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6"/>
          </a:solidFill>
          <a:ln w="12700">
            <a:solidFill>
              <a:srgbClr val="0710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09151D"/>
          </a:solidFill>
          <a:ln w="12700">
            <a:solidFill>
              <a:srgbClr val="09151D"/>
            </a:solidFill>
            <a:prstDash val="solid"/>
          </a:ln>
        </p:spPr>
      </p:sp>
      <p:pic>
        <p:nvPicPr>
          <p:cNvPr id="4" name="Image 0" descr="/Users/ivx/Documents/VLC-Marketing/brief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6473952"/>
            <a:ext cx="310896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" y="646480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6BE"/>
                </a:solidFill>
              </a:rPr>
              <a:t>VisualLogic AI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58368" y="1097280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4F8FA"/>
                </a:solidFill>
              </a:rPr>
              <a:t>Harness AI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658368" y="1783080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AD6C8"/>
                </a:solidFill>
              </a:rPr>
              <a:t>with a DAG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694944" y="267004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B6BE"/>
                </a:solidFill>
              </a:rPr>
              <a:t>From impressive AI outputs to repeatable enterprise execution.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13232" y="3749040"/>
            <a:ext cx="640080" cy="320040"/>
          </a:xfrm>
          <a:prstGeom prst="roundRect">
            <a:avLst>
              <a:gd name="adj" fmla="val 11429"/>
            </a:avLst>
          </a:prstGeom>
          <a:solidFill>
            <a:srgbClr val="2AD6C8"/>
          </a:solidFill>
          <a:ln w="12700">
            <a:solidFill>
              <a:srgbClr val="2AD6C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6384" y="3826764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71016"/>
                </a:solidFill>
              </a:rPr>
              <a:t>VL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1481328" y="3749040"/>
            <a:ext cx="868680" cy="320040"/>
          </a:xfrm>
          <a:prstGeom prst="roundRect">
            <a:avLst>
              <a:gd name="adj" fmla="val 11429"/>
            </a:avLst>
          </a:prstGeom>
          <a:solidFill>
            <a:srgbClr val="FFC65A"/>
          </a:solidFill>
          <a:ln w="12700">
            <a:solidFill>
              <a:srgbClr val="FFC6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554480" y="3826764"/>
            <a:ext cx="722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71016"/>
                </a:solidFill>
              </a:rPr>
              <a:t>DAG</a:t>
            </a:r>
            <a:endParaRPr lang="en-US" sz="820" dirty="0"/>
          </a:p>
        </p:txBody>
      </p:sp>
      <p:sp>
        <p:nvSpPr>
          <p:cNvPr id="13" name="Shape 10"/>
          <p:cNvSpPr/>
          <p:nvPr/>
        </p:nvSpPr>
        <p:spPr>
          <a:xfrm>
            <a:off x="2487168" y="3749040"/>
            <a:ext cx="1508760" cy="320040"/>
          </a:xfrm>
          <a:prstGeom prst="roundRect">
            <a:avLst>
              <a:gd name="adj" fmla="val 11429"/>
            </a:avLst>
          </a:prstGeom>
          <a:solidFill>
            <a:srgbClr val="6DE08C"/>
          </a:solidFill>
          <a:ln w="12700">
            <a:solidFill>
              <a:srgbClr val="6DE08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60320" y="3826764"/>
            <a:ext cx="1362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71016"/>
                </a:solidFill>
              </a:rPr>
              <a:t>AI Assistant</a:t>
            </a:r>
            <a:endParaRPr lang="en-US" sz="820" dirty="0"/>
          </a:p>
        </p:txBody>
      </p:sp>
      <p:sp>
        <p:nvSpPr>
          <p:cNvPr id="15" name="Shape 12"/>
          <p:cNvSpPr/>
          <p:nvPr/>
        </p:nvSpPr>
        <p:spPr>
          <a:xfrm>
            <a:off x="6583680" y="914400"/>
            <a:ext cx="987552" cy="603504"/>
          </a:xfrm>
          <a:prstGeom prst="roundRect">
            <a:avLst>
              <a:gd name="adj" fmla="val 9091"/>
            </a:avLst>
          </a:prstGeom>
          <a:solidFill>
            <a:srgbClr val="101A22"/>
          </a:solidFill>
          <a:ln w="17145">
            <a:solidFill>
              <a:srgbClr val="2AD6C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75120" y="1024128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8FA"/>
                </a:solidFill>
              </a:rPr>
              <a:t>Intent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675120" y="1289304"/>
            <a:ext cx="8046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A9B6BE"/>
                </a:solidFill>
              </a:rPr>
              <a:t>input</a:t>
            </a:r>
            <a:endParaRPr lang="en-US" sz="680" dirty="0"/>
          </a:p>
        </p:txBody>
      </p:sp>
      <p:sp>
        <p:nvSpPr>
          <p:cNvPr id="18" name="Shape 15"/>
          <p:cNvSpPr/>
          <p:nvPr/>
        </p:nvSpPr>
        <p:spPr>
          <a:xfrm>
            <a:off x="8092440" y="676656"/>
            <a:ext cx="1133856" cy="603504"/>
          </a:xfrm>
          <a:prstGeom prst="roundRect">
            <a:avLst>
              <a:gd name="adj" fmla="val 9091"/>
            </a:avLst>
          </a:prstGeom>
          <a:solidFill>
            <a:srgbClr val="101A22"/>
          </a:solidFill>
          <a:ln w="17145">
            <a:solidFill>
              <a:srgbClr val="FFC65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83880" y="786384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8FA"/>
                </a:solidFill>
              </a:rPr>
              <a:t>Contract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183880" y="1051560"/>
            <a:ext cx="9509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A9B6BE"/>
                </a:solidFill>
              </a:rPr>
              <a:t>schema</a:t>
            </a:r>
            <a:endParaRPr lang="en-US" sz="680" dirty="0"/>
          </a:p>
        </p:txBody>
      </p:sp>
      <p:sp>
        <p:nvSpPr>
          <p:cNvPr id="21" name="Shape 18"/>
          <p:cNvSpPr/>
          <p:nvPr/>
        </p:nvSpPr>
        <p:spPr>
          <a:xfrm>
            <a:off x="8138160" y="1920240"/>
            <a:ext cx="1170432" cy="713232"/>
          </a:xfrm>
          <a:prstGeom prst="roundRect">
            <a:avLst>
              <a:gd name="adj" fmla="val 7692"/>
            </a:avLst>
          </a:prstGeom>
          <a:solidFill>
            <a:srgbClr val="101A22"/>
          </a:solidFill>
          <a:ln w="17145">
            <a:solidFill>
              <a:srgbClr val="B88C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29600" y="2029968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8FA"/>
                </a:solidFill>
              </a:rPr>
              <a:t>AI Node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229600" y="2404872"/>
            <a:ext cx="987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A9B6BE"/>
                </a:solidFill>
              </a:rPr>
              <a:t>generate</a:t>
            </a:r>
            <a:endParaRPr lang="en-US" sz="680" dirty="0"/>
          </a:p>
        </p:txBody>
      </p:sp>
      <p:sp>
        <p:nvSpPr>
          <p:cNvPr id="24" name="Shape 21"/>
          <p:cNvSpPr/>
          <p:nvPr/>
        </p:nvSpPr>
        <p:spPr>
          <a:xfrm>
            <a:off x="9784080" y="1097280"/>
            <a:ext cx="1115568" cy="603504"/>
          </a:xfrm>
          <a:prstGeom prst="roundRect">
            <a:avLst>
              <a:gd name="adj" fmla="val 9091"/>
            </a:avLst>
          </a:prstGeom>
          <a:solidFill>
            <a:srgbClr val="101A22"/>
          </a:solidFill>
          <a:ln w="17145">
            <a:solidFill>
              <a:srgbClr val="6DE08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875520" y="1207008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8FA"/>
                </a:solidFill>
              </a:rPr>
              <a:t>Validate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9875520" y="1472184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A9B6BE"/>
                </a:solidFill>
              </a:rPr>
              <a:t>check</a:t>
            </a:r>
            <a:endParaRPr lang="en-US" sz="680" dirty="0"/>
          </a:p>
        </p:txBody>
      </p:sp>
      <p:sp>
        <p:nvSpPr>
          <p:cNvPr id="27" name="Shape 24"/>
          <p:cNvSpPr/>
          <p:nvPr/>
        </p:nvSpPr>
        <p:spPr>
          <a:xfrm>
            <a:off x="10012680" y="2743200"/>
            <a:ext cx="1152144" cy="603504"/>
          </a:xfrm>
          <a:prstGeom prst="roundRect">
            <a:avLst>
              <a:gd name="adj" fmla="val 9091"/>
            </a:avLst>
          </a:prstGeom>
          <a:solidFill>
            <a:srgbClr val="101A22"/>
          </a:solidFill>
          <a:ln w="17145">
            <a:solidFill>
              <a:srgbClr val="6AB8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104120" y="2852928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8FA"/>
                </a:solidFill>
              </a:rPr>
              <a:t>Package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0104120" y="3118104"/>
            <a:ext cx="9692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A9B6BE"/>
                </a:solidFill>
              </a:rPr>
              <a:t>ship</a:t>
            </a:r>
            <a:endParaRPr lang="en-US" sz="680" dirty="0"/>
          </a:p>
        </p:txBody>
      </p:sp>
      <p:sp>
        <p:nvSpPr>
          <p:cNvPr id="30" name="Shape 27"/>
          <p:cNvSpPr/>
          <p:nvPr/>
        </p:nvSpPr>
        <p:spPr>
          <a:xfrm>
            <a:off x="7360920" y="3877056"/>
            <a:ext cx="1170432" cy="658368"/>
          </a:xfrm>
          <a:prstGeom prst="roundRect">
            <a:avLst>
              <a:gd name="adj" fmla="val 8333"/>
            </a:avLst>
          </a:prstGeom>
          <a:solidFill>
            <a:srgbClr val="101A22"/>
          </a:solidFill>
          <a:ln w="17145">
            <a:solidFill>
              <a:srgbClr val="2AD6C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452360" y="3986784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8FA"/>
                </a:solidFill>
              </a:rPr>
              <a:t>Project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452360" y="4306824"/>
            <a:ext cx="987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A9B6BE"/>
                </a:solidFill>
              </a:rPr>
              <a:t>real app</a:t>
            </a:r>
            <a:endParaRPr lang="en-US" sz="680" dirty="0"/>
          </a:p>
        </p:txBody>
      </p:sp>
      <p:sp>
        <p:nvSpPr>
          <p:cNvPr id="33" name="Shape 30"/>
          <p:cNvSpPr/>
          <p:nvPr/>
        </p:nvSpPr>
        <p:spPr>
          <a:xfrm>
            <a:off x="7571232" y="1216152"/>
            <a:ext cx="521208" cy="-228600"/>
          </a:xfrm>
          <a:prstGeom prst="line">
            <a:avLst/>
          </a:prstGeom>
          <a:noFill/>
          <a:ln w="15875">
            <a:solidFill>
              <a:srgbClr val="2AD6C8"/>
            </a:solidFill>
            <a:prstDash val="solid"/>
            <a:headEnd type="none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8659368" y="1280160"/>
            <a:ext cx="27432" cy="640080"/>
          </a:xfrm>
          <a:prstGeom prst="line">
            <a:avLst/>
          </a:prstGeom>
          <a:noFill/>
          <a:ln w="15875">
            <a:solidFill>
              <a:srgbClr val="FFC65A"/>
            </a:solidFill>
            <a:prstDash val="solid"/>
            <a:headEnd type="none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9308592" y="2267712"/>
            <a:ext cx="475488" cy="-850392"/>
          </a:xfrm>
          <a:prstGeom prst="line">
            <a:avLst/>
          </a:prstGeom>
          <a:noFill/>
          <a:ln w="15875">
            <a:solidFill>
              <a:srgbClr val="B88CFF"/>
            </a:solidFill>
            <a:prstDash val="solid"/>
            <a:headEnd type="none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10314432" y="1700784"/>
            <a:ext cx="274320" cy="1042416"/>
          </a:xfrm>
          <a:prstGeom prst="line">
            <a:avLst/>
          </a:prstGeom>
          <a:noFill/>
          <a:ln w="15875">
            <a:solidFill>
              <a:srgbClr val="6DE08C"/>
            </a:solidFill>
            <a:prstDash val="solid"/>
            <a:headEnd type="none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10012680" y="3072384"/>
            <a:ext cx="-1472184" cy="1024128"/>
          </a:xfrm>
          <a:prstGeom prst="line">
            <a:avLst/>
          </a:prstGeom>
          <a:noFill/>
          <a:ln w="15875">
            <a:solidFill>
              <a:srgbClr val="6AB8FF"/>
            </a:solidFill>
            <a:prstDash val="solid"/>
            <a:headEnd type="none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7360920" y="4187952"/>
            <a:ext cx="-466344" cy="-2651760"/>
          </a:xfrm>
          <a:prstGeom prst="line">
            <a:avLst/>
          </a:prstGeom>
          <a:noFill/>
          <a:ln w="15875">
            <a:solidFill>
              <a:srgbClr val="2AD6C8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6"/>
          </a:solidFill>
          <a:ln w="12700">
            <a:solidFill>
              <a:srgbClr val="0710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09151D"/>
          </a:solidFill>
          <a:ln w="12700">
            <a:solidFill>
              <a:srgbClr val="09151D"/>
            </a:solidFill>
            <a:prstDash val="solid"/>
          </a:ln>
        </p:spPr>
      </p:sp>
      <p:pic>
        <p:nvPicPr>
          <p:cNvPr id="4" name="Image 0" descr="/Users/ivx/Documents/VLC-Marketing/brief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6473952"/>
            <a:ext cx="310896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" y="646480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6BE"/>
                </a:solidFill>
              </a:rPr>
              <a:t>VisualLogic AI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66928" y="411480"/>
            <a:ext cx="6217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8FA"/>
                </a:solidFill>
              </a:rPr>
              <a:t>The symptom: context rot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85216" y="941832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A9B6BE"/>
                </a:solidFill>
              </a:rPr>
              <a:t>Longer memory helps, but it does not define the process.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685800" y="1600200"/>
            <a:ext cx="2926080" cy="3291840"/>
          </a:xfrm>
          <a:prstGeom prst="roundRect">
            <a:avLst>
              <a:gd name="adj" fmla="val 1250"/>
            </a:avLst>
          </a:prstGeom>
          <a:solidFill>
            <a:srgbClr val="101A22"/>
          </a:solidFill>
          <a:ln w="10160">
            <a:solidFill>
              <a:srgbClr val="31455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0392" y="1755648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B8FF"/>
                </a:solidFill>
              </a:rPr>
              <a:t>Current fixes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50392" y="2103120"/>
            <a:ext cx="2596896" cy="2633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4F8FA"/>
                </a:solidFill>
              </a:rPr>
              <a:t>Longer context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4F8FA"/>
                </a:solidFill>
              </a:rPr>
              <a:t>Retrieval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4F8FA"/>
                </a:solidFill>
              </a:rPr>
              <a:t>Memory summaries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4F8FA"/>
                </a:solidFill>
              </a:rPr>
              <a:t>Prompt rules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4F8FA"/>
                </a:solidFill>
              </a:rPr>
              <a:t>Guardrails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4023360" y="1600200"/>
            <a:ext cx="2926080" cy="3291840"/>
          </a:xfrm>
          <a:prstGeom prst="roundRect">
            <a:avLst>
              <a:gd name="adj" fmla="val 1250"/>
            </a:avLst>
          </a:prstGeom>
          <a:solidFill>
            <a:srgbClr val="101A22"/>
          </a:solidFill>
          <a:ln w="10160">
            <a:solidFill>
              <a:srgbClr val="31455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87952" y="1755648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C65A"/>
                </a:solidFill>
              </a:rPr>
              <a:t>What is still missing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187952" y="2103120"/>
            <a:ext cx="2596896" cy="2633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4F8FA"/>
                </a:solidFill>
              </a:rPr>
              <a:t>Execution order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4F8FA"/>
                </a:solidFill>
              </a:rPr>
              <a:t>Dataflow contracts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4F8FA"/>
                </a:solidFill>
              </a:rPr>
              <a:t>Quality gates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4F8FA"/>
                </a:solidFill>
              </a:rPr>
              <a:t>Repair loops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4F8FA"/>
                </a:solidFill>
              </a:rPr>
              <a:t>Human handoffs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7360920" y="1600200"/>
            <a:ext cx="3611880" cy="3291840"/>
          </a:xfrm>
          <a:prstGeom prst="roundRect">
            <a:avLst>
              <a:gd name="adj" fmla="val 1111"/>
            </a:avLst>
          </a:prstGeom>
          <a:solidFill>
            <a:srgbClr val="101A22"/>
          </a:solidFill>
          <a:ln w="10160">
            <a:solidFill>
              <a:srgbClr val="31455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525512" y="1755648"/>
            <a:ext cx="3282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D6C8"/>
                </a:solidFill>
              </a:rPr>
              <a:t>The core answer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25512" y="2103120"/>
            <a:ext cx="3282696" cy="2633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4F8FA"/>
                </a:solidFill>
              </a:rPr>
              <a:t>Plan the whole harness as a runnable graph, then let AI operate inside that graph.</a:t>
            </a:r>
            <a:endParaRPr lang="en-US" sz="1220" dirty="0"/>
          </a:p>
        </p:txBody>
      </p:sp>
      <p:sp>
        <p:nvSpPr>
          <p:cNvPr id="17" name="Shape 14"/>
          <p:cNvSpPr/>
          <p:nvPr/>
        </p:nvSpPr>
        <p:spPr>
          <a:xfrm>
            <a:off x="3611880" y="3218688"/>
            <a:ext cx="411480" cy="0"/>
          </a:xfrm>
          <a:prstGeom prst="line">
            <a:avLst/>
          </a:prstGeom>
          <a:noFill/>
          <a:ln w="15875">
            <a:solidFill>
              <a:srgbClr val="314551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6949440" y="3218688"/>
            <a:ext cx="411480" cy="0"/>
          </a:xfrm>
          <a:prstGeom prst="line">
            <a:avLst/>
          </a:prstGeom>
          <a:noFill/>
          <a:ln w="15875">
            <a:solidFill>
              <a:srgbClr val="314551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6"/>
          </a:solidFill>
          <a:ln w="12700">
            <a:solidFill>
              <a:srgbClr val="0710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09151D"/>
          </a:solidFill>
          <a:ln w="12700">
            <a:solidFill>
              <a:srgbClr val="09151D"/>
            </a:solidFill>
            <a:prstDash val="solid"/>
          </a:ln>
        </p:spPr>
      </p:sp>
      <p:pic>
        <p:nvPicPr>
          <p:cNvPr id="4" name="Image 0" descr="/Users/ivx/Documents/VLC-Marketing/brief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6473952"/>
            <a:ext cx="310896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" y="646480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6BE"/>
                </a:solidFill>
              </a:rPr>
              <a:t>VisualLogic AI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66928" y="411480"/>
            <a:ext cx="6217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8FA"/>
                </a:solidFill>
              </a:rPr>
              <a:t>One AI node is powerful, but unmanaged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85216" y="941832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A9B6BE"/>
                </a:solidFill>
              </a:rPr>
              <a:t>A big output is not the same as a complete process.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685800" y="132588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101A22"/>
          </a:solidFill>
          <a:ln w="17145">
            <a:solidFill>
              <a:srgbClr val="31455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143560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8FA"/>
                </a:solidFill>
              </a:rPr>
              <a:t>Brief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85800" y="1801368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101A22"/>
          </a:solidFill>
          <a:ln w="17145">
            <a:solidFill>
              <a:srgbClr val="31455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191109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8FA"/>
                </a:solidFill>
              </a:rPr>
              <a:t>Docs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85800" y="2276856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101A22"/>
          </a:solidFill>
          <a:ln w="17145">
            <a:solidFill>
              <a:srgbClr val="31455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238658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8FA"/>
                </a:solidFill>
              </a:rPr>
              <a:t>Code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85800" y="2752344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101A22"/>
          </a:solidFill>
          <a:ln w="17145">
            <a:solidFill>
              <a:srgbClr val="31455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286207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8FA"/>
                </a:solidFill>
              </a:rPr>
              <a:t>Memory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85800" y="3227832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101A22"/>
          </a:solidFill>
          <a:ln w="17145">
            <a:solidFill>
              <a:srgbClr val="31455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" y="333756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8FA"/>
                </a:solidFill>
              </a:rPr>
              <a:t>Tools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85800" y="370332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101A22"/>
          </a:solidFill>
          <a:ln w="17145">
            <a:solidFill>
              <a:srgbClr val="31455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" y="381304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8FA"/>
                </a:solidFill>
              </a:rPr>
              <a:t>Rules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85800" y="4178808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101A22"/>
          </a:solidFill>
          <a:ln w="17145">
            <a:solidFill>
              <a:srgbClr val="31455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" y="428853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8FA"/>
                </a:solidFill>
              </a:rPr>
              <a:t>User intent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85800" y="4654296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101A22"/>
          </a:solidFill>
          <a:ln w="17145">
            <a:solidFill>
              <a:srgbClr val="31455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77240" y="476402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8FA"/>
                </a:solidFill>
              </a:rPr>
              <a:t>Examples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617720" y="2084832"/>
            <a:ext cx="1828800" cy="1298448"/>
          </a:xfrm>
          <a:prstGeom prst="hexagon">
            <a:avLst/>
          </a:prstGeom>
          <a:solidFill>
            <a:srgbClr val="16232D"/>
          </a:solidFill>
          <a:ln w="21590">
            <a:solidFill>
              <a:srgbClr val="B88C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617720" y="245059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8CFF"/>
                </a:solidFill>
              </a:rPr>
              <a:t>AI</a:t>
            </a:r>
            <a:endParaRPr lang="en-US" sz="2400" dirty="0"/>
          </a:p>
        </p:txBody>
      </p:sp>
      <p:sp>
        <p:nvSpPr>
          <p:cNvPr id="26" name="Shape 23"/>
          <p:cNvSpPr/>
          <p:nvPr/>
        </p:nvSpPr>
        <p:spPr>
          <a:xfrm>
            <a:off x="2103120" y="1472184"/>
            <a:ext cx="2514600" cy="1261872"/>
          </a:xfrm>
          <a:prstGeom prst="line">
            <a:avLst/>
          </a:prstGeom>
          <a:noFill/>
          <a:ln w="15875">
            <a:solidFill>
              <a:srgbClr val="6F7F89"/>
            </a:solidFill>
            <a:prstDash val="solid"/>
            <a:headEnd type="none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2103120" y="1947672"/>
            <a:ext cx="2514600" cy="786384"/>
          </a:xfrm>
          <a:prstGeom prst="line">
            <a:avLst/>
          </a:prstGeom>
          <a:noFill/>
          <a:ln w="15875">
            <a:solidFill>
              <a:srgbClr val="6F7F89"/>
            </a:solidFill>
            <a:prstDash val="solid"/>
            <a:headEnd type="none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2103120" y="2423160"/>
            <a:ext cx="2514600" cy="310896"/>
          </a:xfrm>
          <a:prstGeom prst="line">
            <a:avLst/>
          </a:prstGeom>
          <a:noFill/>
          <a:ln w="15875">
            <a:solidFill>
              <a:srgbClr val="6F7F89"/>
            </a:solidFill>
            <a:prstDash val="solid"/>
            <a:headEnd type="none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2103120" y="2898648"/>
            <a:ext cx="2514600" cy="-164592"/>
          </a:xfrm>
          <a:prstGeom prst="line">
            <a:avLst/>
          </a:prstGeom>
          <a:noFill/>
          <a:ln w="15875">
            <a:solidFill>
              <a:srgbClr val="6F7F89"/>
            </a:solidFill>
            <a:prstDash val="solid"/>
            <a:headEnd type="none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2103120" y="3374136"/>
            <a:ext cx="2514600" cy="-640080"/>
          </a:xfrm>
          <a:prstGeom prst="line">
            <a:avLst/>
          </a:prstGeom>
          <a:noFill/>
          <a:ln w="15875">
            <a:solidFill>
              <a:srgbClr val="6F7F89"/>
            </a:solidFill>
            <a:prstDash val="solid"/>
            <a:headEnd type="none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2103120" y="3849624"/>
            <a:ext cx="2514600" cy="-1115568"/>
          </a:xfrm>
          <a:prstGeom prst="line">
            <a:avLst/>
          </a:prstGeom>
          <a:noFill/>
          <a:ln w="15875">
            <a:solidFill>
              <a:srgbClr val="6F7F89"/>
            </a:solidFill>
            <a:prstDash val="solid"/>
            <a:headEnd type="none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2103120" y="4325112"/>
            <a:ext cx="2514600" cy="-1591056"/>
          </a:xfrm>
          <a:prstGeom prst="line">
            <a:avLst/>
          </a:prstGeom>
          <a:noFill/>
          <a:ln w="15875">
            <a:solidFill>
              <a:srgbClr val="6F7F89"/>
            </a:solidFill>
            <a:prstDash val="solid"/>
            <a:headEnd type="none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2103120" y="4800600"/>
            <a:ext cx="2514600" cy="-2066544"/>
          </a:xfrm>
          <a:prstGeom prst="line">
            <a:avLst/>
          </a:prstGeom>
          <a:noFill/>
          <a:ln w="15875">
            <a:solidFill>
              <a:srgbClr val="6F7F89"/>
            </a:solidFill>
            <a:prstDash val="solid"/>
            <a:headEnd type="none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8595360" y="2157984"/>
            <a:ext cx="2011680" cy="804672"/>
          </a:xfrm>
          <a:prstGeom prst="roundRect">
            <a:avLst>
              <a:gd name="adj" fmla="val 6818"/>
            </a:avLst>
          </a:prstGeom>
          <a:solidFill>
            <a:srgbClr val="101A22"/>
          </a:solidFill>
          <a:ln w="17145">
            <a:solidFill>
              <a:srgbClr val="6DE08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686800" y="226771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8FA"/>
                </a:solidFill>
              </a:rPr>
              <a:t>Large output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8686800" y="2734056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A9B6BE"/>
                </a:solidFill>
              </a:rPr>
              <a:t>impressive, variable</a:t>
            </a:r>
            <a:endParaRPr lang="en-US" sz="680" dirty="0"/>
          </a:p>
        </p:txBody>
      </p:sp>
      <p:sp>
        <p:nvSpPr>
          <p:cNvPr id="37" name="Shape 34"/>
          <p:cNvSpPr/>
          <p:nvPr/>
        </p:nvSpPr>
        <p:spPr>
          <a:xfrm>
            <a:off x="6446520" y="2734056"/>
            <a:ext cx="2148840" cy="-173736"/>
          </a:xfrm>
          <a:prstGeom prst="line">
            <a:avLst/>
          </a:prstGeom>
          <a:noFill/>
          <a:ln w="15875">
            <a:solidFill>
              <a:srgbClr val="6DE08C"/>
            </a:solidFill>
            <a:prstDash val="solid"/>
            <a:headEnd type="none"/>
            <a:tailEnd type="triangle"/>
          </a:ln>
        </p:spPr>
      </p:sp>
      <p:sp>
        <p:nvSpPr>
          <p:cNvPr id="38" name="Text 35"/>
          <p:cNvSpPr/>
          <p:nvPr/>
        </p:nvSpPr>
        <p:spPr>
          <a:xfrm>
            <a:off x="8577072" y="37490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</a:rPr>
              <a:t>Risk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8577072" y="406908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F4F8FA"/>
                </a:solidFill>
              </a:rPr>
              <a:t>The next step is implicit. Stability depends on the operator, the prompt, and the run.</a:t>
            </a:r>
            <a:endParaRPr lang="en-US" sz="12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6"/>
          </a:solidFill>
          <a:ln w="12700">
            <a:solidFill>
              <a:srgbClr val="0710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09151D"/>
          </a:solidFill>
          <a:ln w="12700">
            <a:solidFill>
              <a:srgbClr val="09151D"/>
            </a:solidFill>
            <a:prstDash val="solid"/>
          </a:ln>
        </p:spPr>
      </p:sp>
      <p:pic>
        <p:nvPicPr>
          <p:cNvPr id="4" name="Image 0" descr="/Users/ivx/Documents/VLC-Marketing/brief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6473952"/>
            <a:ext cx="310896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" y="646480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6BE"/>
                </a:solidFill>
              </a:rPr>
              <a:t>VisualLogic AI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66928" y="411480"/>
            <a:ext cx="6217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8FA"/>
                </a:solidFill>
              </a:rPr>
              <a:t>A DAG turns AI into a process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85216" y="941832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A9B6BE"/>
                </a:solidFill>
              </a:rPr>
              <a:t>AI becomes one node type in a controlled harness.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713232" y="1828800"/>
            <a:ext cx="960120" cy="658368"/>
          </a:xfrm>
          <a:prstGeom prst="roundRect">
            <a:avLst>
              <a:gd name="adj" fmla="val 8333"/>
            </a:avLst>
          </a:prstGeom>
          <a:solidFill>
            <a:srgbClr val="101A22"/>
          </a:solidFill>
          <a:ln w="17145">
            <a:solidFill>
              <a:srgbClr val="2AD6C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193852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8FA"/>
                </a:solidFill>
              </a:rPr>
              <a:t>Intent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04672" y="2258568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A9B6BE"/>
                </a:solidFill>
              </a:rPr>
              <a:t>human input</a:t>
            </a:r>
            <a:endParaRPr lang="en-US" sz="680" dirty="0"/>
          </a:p>
        </p:txBody>
      </p:sp>
      <p:sp>
        <p:nvSpPr>
          <p:cNvPr id="11" name="Shape 8"/>
          <p:cNvSpPr/>
          <p:nvPr/>
        </p:nvSpPr>
        <p:spPr>
          <a:xfrm>
            <a:off x="2121408" y="2880360"/>
            <a:ext cx="960120" cy="658368"/>
          </a:xfrm>
          <a:prstGeom prst="roundRect">
            <a:avLst>
              <a:gd name="adj" fmla="val 8333"/>
            </a:avLst>
          </a:prstGeom>
          <a:solidFill>
            <a:srgbClr val="101A22"/>
          </a:solidFill>
          <a:ln w="17145">
            <a:solidFill>
              <a:srgbClr val="FFC6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212848" y="299008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8FA"/>
                </a:solidFill>
              </a:rPr>
              <a:t>Manifest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212848" y="3310128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A9B6BE"/>
                </a:solidFill>
              </a:rPr>
              <a:t>runtime contract</a:t>
            </a:r>
            <a:endParaRPr lang="en-US" sz="680" dirty="0"/>
          </a:p>
        </p:txBody>
      </p:sp>
      <p:sp>
        <p:nvSpPr>
          <p:cNvPr id="14" name="Shape 11"/>
          <p:cNvSpPr/>
          <p:nvPr/>
        </p:nvSpPr>
        <p:spPr>
          <a:xfrm>
            <a:off x="3529584" y="1828800"/>
            <a:ext cx="960120" cy="658368"/>
          </a:xfrm>
          <a:prstGeom prst="roundRect">
            <a:avLst>
              <a:gd name="adj" fmla="val 8333"/>
            </a:avLst>
          </a:prstGeom>
          <a:solidFill>
            <a:srgbClr val="101A22"/>
          </a:solidFill>
          <a:ln w="17145">
            <a:solidFill>
              <a:srgbClr val="6AB8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21024" y="193852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8FA"/>
                </a:solidFill>
              </a:rPr>
              <a:t>Plan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621024" y="2258568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A9B6BE"/>
                </a:solidFill>
              </a:rPr>
              <a:t>decompose</a:t>
            </a:r>
            <a:endParaRPr lang="en-US" sz="680" dirty="0"/>
          </a:p>
        </p:txBody>
      </p:sp>
      <p:sp>
        <p:nvSpPr>
          <p:cNvPr id="17" name="Shape 14"/>
          <p:cNvSpPr/>
          <p:nvPr/>
        </p:nvSpPr>
        <p:spPr>
          <a:xfrm>
            <a:off x="4937760" y="2880360"/>
            <a:ext cx="960120" cy="658368"/>
          </a:xfrm>
          <a:prstGeom prst="roundRect">
            <a:avLst>
              <a:gd name="adj" fmla="val 8333"/>
            </a:avLst>
          </a:prstGeom>
          <a:solidFill>
            <a:srgbClr val="101A22"/>
          </a:solidFill>
          <a:ln w="17145">
            <a:solidFill>
              <a:srgbClr val="B88C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0" y="299008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8FA"/>
                </a:solidFill>
              </a:rPr>
              <a:t>AI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029200" y="3310128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A9B6BE"/>
                </a:solidFill>
              </a:rPr>
              <a:t>generate</a:t>
            </a:r>
            <a:endParaRPr lang="en-US" sz="680" dirty="0"/>
          </a:p>
        </p:txBody>
      </p:sp>
      <p:sp>
        <p:nvSpPr>
          <p:cNvPr id="20" name="Shape 17"/>
          <p:cNvSpPr/>
          <p:nvPr/>
        </p:nvSpPr>
        <p:spPr>
          <a:xfrm>
            <a:off x="6345936" y="1828800"/>
            <a:ext cx="960120" cy="658368"/>
          </a:xfrm>
          <a:prstGeom prst="roundRect">
            <a:avLst>
              <a:gd name="adj" fmla="val 8333"/>
            </a:avLst>
          </a:prstGeom>
          <a:solidFill>
            <a:srgbClr val="101A22"/>
          </a:solidFill>
          <a:ln w="17145">
            <a:solidFill>
              <a:srgbClr val="6DE08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37376" y="193852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8FA"/>
                </a:solidFill>
              </a:rPr>
              <a:t>Tool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437376" y="2258568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A9B6BE"/>
                </a:solidFill>
              </a:rPr>
              <a:t>execute</a:t>
            </a:r>
            <a:endParaRPr lang="en-US" sz="680" dirty="0"/>
          </a:p>
        </p:txBody>
      </p:sp>
      <p:sp>
        <p:nvSpPr>
          <p:cNvPr id="23" name="Shape 20"/>
          <p:cNvSpPr/>
          <p:nvPr/>
        </p:nvSpPr>
        <p:spPr>
          <a:xfrm>
            <a:off x="7754112" y="2880360"/>
            <a:ext cx="960120" cy="658368"/>
          </a:xfrm>
          <a:prstGeom prst="roundRect">
            <a:avLst>
              <a:gd name="adj" fmla="val 8333"/>
            </a:avLst>
          </a:prstGeom>
          <a:solidFill>
            <a:srgbClr val="101A22"/>
          </a:solidFill>
          <a:ln w="17145">
            <a:solidFill>
              <a:srgbClr val="FFC6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845552" y="299008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8FA"/>
                </a:solidFill>
              </a:rPr>
              <a:t>Validate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845552" y="3310128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A9B6BE"/>
                </a:solidFill>
              </a:rPr>
              <a:t>quality gate</a:t>
            </a:r>
            <a:endParaRPr lang="en-US" sz="680" dirty="0"/>
          </a:p>
        </p:txBody>
      </p:sp>
      <p:sp>
        <p:nvSpPr>
          <p:cNvPr id="26" name="Shape 23"/>
          <p:cNvSpPr/>
          <p:nvPr/>
        </p:nvSpPr>
        <p:spPr>
          <a:xfrm>
            <a:off x="9162288" y="1828800"/>
            <a:ext cx="960120" cy="658368"/>
          </a:xfrm>
          <a:prstGeom prst="roundRect">
            <a:avLst>
              <a:gd name="adj" fmla="val 8333"/>
            </a:avLst>
          </a:prstGeom>
          <a:solidFill>
            <a:srgbClr val="101A22"/>
          </a:solidFill>
          <a:ln w="17145">
            <a:solidFill>
              <a:srgbClr val="FF6B6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253728" y="193852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8FA"/>
                </a:solidFill>
              </a:rPr>
              <a:t>Repair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9253728" y="2258568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A9B6BE"/>
                </a:solidFill>
              </a:rPr>
              <a:t>loop</a:t>
            </a:r>
            <a:endParaRPr lang="en-US" sz="680" dirty="0"/>
          </a:p>
        </p:txBody>
      </p:sp>
      <p:sp>
        <p:nvSpPr>
          <p:cNvPr id="29" name="Shape 26"/>
          <p:cNvSpPr/>
          <p:nvPr/>
        </p:nvSpPr>
        <p:spPr>
          <a:xfrm>
            <a:off x="10570464" y="2880360"/>
            <a:ext cx="960120" cy="658368"/>
          </a:xfrm>
          <a:prstGeom prst="roundRect">
            <a:avLst>
              <a:gd name="adj" fmla="val 8333"/>
            </a:avLst>
          </a:prstGeom>
          <a:solidFill>
            <a:srgbClr val="101A22"/>
          </a:solidFill>
          <a:ln w="17145">
            <a:solidFill>
              <a:srgbClr val="2AD6C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661904" y="299008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8FA"/>
                </a:solidFill>
              </a:rPr>
              <a:t>Output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0661904" y="3310128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A9B6BE"/>
                </a:solidFill>
              </a:rPr>
              <a:t>ship</a:t>
            </a:r>
            <a:endParaRPr lang="en-US" sz="680" dirty="0"/>
          </a:p>
        </p:txBody>
      </p:sp>
      <p:sp>
        <p:nvSpPr>
          <p:cNvPr id="32" name="Shape 29"/>
          <p:cNvSpPr/>
          <p:nvPr/>
        </p:nvSpPr>
        <p:spPr>
          <a:xfrm>
            <a:off x="1673352" y="2157984"/>
            <a:ext cx="448056" cy="1051560"/>
          </a:xfrm>
          <a:prstGeom prst="line">
            <a:avLst/>
          </a:prstGeom>
          <a:noFill/>
          <a:ln w="15875">
            <a:solidFill>
              <a:srgbClr val="314551"/>
            </a:solidFill>
            <a:prstDash val="solid"/>
            <a:headEnd type="none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3081528" y="3209544"/>
            <a:ext cx="448056" cy="-1051560"/>
          </a:xfrm>
          <a:prstGeom prst="line">
            <a:avLst/>
          </a:prstGeom>
          <a:noFill/>
          <a:ln w="15875">
            <a:solidFill>
              <a:srgbClr val="314551"/>
            </a:solidFill>
            <a:prstDash val="solid"/>
            <a:headEnd type="none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4489704" y="2157984"/>
            <a:ext cx="448056" cy="1051560"/>
          </a:xfrm>
          <a:prstGeom prst="line">
            <a:avLst/>
          </a:prstGeom>
          <a:noFill/>
          <a:ln w="15875">
            <a:solidFill>
              <a:srgbClr val="314551"/>
            </a:solidFill>
            <a:prstDash val="solid"/>
            <a:headEnd type="none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5897880" y="3209544"/>
            <a:ext cx="448056" cy="-1051560"/>
          </a:xfrm>
          <a:prstGeom prst="line">
            <a:avLst/>
          </a:prstGeom>
          <a:noFill/>
          <a:ln w="15875">
            <a:solidFill>
              <a:srgbClr val="314551"/>
            </a:solidFill>
            <a:prstDash val="solid"/>
            <a:headEnd type="none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7306056" y="2157984"/>
            <a:ext cx="448056" cy="1051560"/>
          </a:xfrm>
          <a:prstGeom prst="line">
            <a:avLst/>
          </a:prstGeom>
          <a:noFill/>
          <a:ln w="15875">
            <a:solidFill>
              <a:srgbClr val="314551"/>
            </a:solidFill>
            <a:prstDash val="solid"/>
            <a:headEnd type="none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8714232" y="3209544"/>
            <a:ext cx="448056" cy="-1051560"/>
          </a:xfrm>
          <a:prstGeom prst="line">
            <a:avLst/>
          </a:prstGeom>
          <a:noFill/>
          <a:ln w="15875">
            <a:solidFill>
              <a:srgbClr val="314551"/>
            </a:solidFill>
            <a:prstDash val="solid"/>
            <a:headEnd type="none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10122408" y="2157984"/>
            <a:ext cx="448056" cy="1051560"/>
          </a:xfrm>
          <a:prstGeom prst="line">
            <a:avLst/>
          </a:prstGeom>
          <a:noFill/>
          <a:ln w="15875">
            <a:solidFill>
              <a:srgbClr val="314551"/>
            </a:solidFill>
            <a:prstDash val="solid"/>
            <a:headEnd type="none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9637776" y="2880360"/>
            <a:ext cx="-1426464" cy="658368"/>
          </a:xfrm>
          <a:prstGeom prst="line">
            <a:avLst/>
          </a:prstGeom>
          <a:noFill/>
          <a:ln w="15875">
            <a:solidFill>
              <a:srgbClr val="FF6B6B"/>
            </a:solidFill>
            <a:prstDash val="solid"/>
            <a:headEnd type="none"/>
            <a:tailEnd type="triangle"/>
          </a:ln>
        </p:spPr>
      </p:sp>
      <p:sp>
        <p:nvSpPr>
          <p:cNvPr id="40" name="Text 37"/>
          <p:cNvSpPr/>
          <p:nvPr/>
        </p:nvSpPr>
        <p:spPr>
          <a:xfrm>
            <a:off x="1234440" y="473659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8FA"/>
                </a:solidFill>
              </a:rPr>
              <a:t>Explicit execution order | typed dataflow | checkpoints | retries | human gates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6"/>
          </a:solidFill>
          <a:ln w="12700">
            <a:solidFill>
              <a:srgbClr val="0710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09151D"/>
          </a:solidFill>
          <a:ln w="12700">
            <a:solidFill>
              <a:srgbClr val="09151D"/>
            </a:solidFill>
            <a:prstDash val="solid"/>
          </a:ln>
        </p:spPr>
      </p:sp>
      <p:pic>
        <p:nvPicPr>
          <p:cNvPr id="4" name="Image 0" descr="/Users/ivx/Documents/VLC-Marketing/brief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6473952"/>
            <a:ext cx="310896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" y="646480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6BE"/>
                </a:solidFill>
              </a:rPr>
              <a:t>VisualLogic AI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66928" y="411480"/>
            <a:ext cx="6217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8FA"/>
                </a:solidFill>
              </a:rPr>
              <a:t>The DAG is the program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85216" y="941832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A9B6BE"/>
                </a:solidFill>
              </a:rPr>
              <a:t>A runnable graph captures execution, dataflow, contracts, branches, and repair.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749808" y="1508760"/>
            <a:ext cx="1426464" cy="566928"/>
          </a:xfrm>
          <a:prstGeom prst="roundRect">
            <a:avLst>
              <a:gd name="adj" fmla="val 9677"/>
            </a:avLst>
          </a:prstGeom>
          <a:solidFill>
            <a:srgbClr val="101A22"/>
          </a:solidFill>
          <a:ln w="17145">
            <a:solidFill>
              <a:srgbClr val="2AD6C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1248" y="1618488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8FA"/>
                </a:solidFill>
              </a:rPr>
              <a:t>Brief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898648" y="1508760"/>
            <a:ext cx="1426464" cy="566928"/>
          </a:xfrm>
          <a:prstGeom prst="roundRect">
            <a:avLst>
              <a:gd name="adj" fmla="val 9677"/>
            </a:avLst>
          </a:prstGeom>
          <a:solidFill>
            <a:srgbClr val="101A22"/>
          </a:solidFill>
          <a:ln w="17145">
            <a:solidFill>
              <a:srgbClr val="FFC65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90088" y="1618488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8FA"/>
                </a:solidFill>
              </a:rPr>
              <a:t>Spec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047488" y="1508760"/>
            <a:ext cx="1426464" cy="566928"/>
          </a:xfrm>
          <a:prstGeom prst="roundRect">
            <a:avLst>
              <a:gd name="adj" fmla="val 9677"/>
            </a:avLst>
          </a:prstGeom>
          <a:solidFill>
            <a:srgbClr val="101A22"/>
          </a:solidFill>
          <a:ln w="17145">
            <a:solidFill>
              <a:srgbClr val="FFC65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38928" y="1618488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8FA"/>
                </a:solidFill>
              </a:rPr>
              <a:t>Contract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196328" y="1508760"/>
            <a:ext cx="1426464" cy="566928"/>
          </a:xfrm>
          <a:prstGeom prst="roundRect">
            <a:avLst>
              <a:gd name="adj" fmla="val 9677"/>
            </a:avLst>
          </a:prstGeom>
          <a:solidFill>
            <a:srgbClr val="101A22"/>
          </a:solidFill>
          <a:ln w="17145">
            <a:solidFill>
              <a:srgbClr val="6AB8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87768" y="1618488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8FA"/>
                </a:solidFill>
              </a:rPr>
              <a:t>UI Flow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9345168" y="1508760"/>
            <a:ext cx="1426464" cy="566928"/>
          </a:xfrm>
          <a:prstGeom prst="roundRect">
            <a:avLst>
              <a:gd name="adj" fmla="val 9677"/>
            </a:avLst>
          </a:prstGeom>
          <a:solidFill>
            <a:srgbClr val="101A22"/>
          </a:solidFill>
          <a:ln w="17145">
            <a:solidFill>
              <a:srgbClr val="6AB8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436608" y="1618488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8FA"/>
                </a:solidFill>
              </a:rPr>
              <a:t>Service Flow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49808" y="2743200"/>
            <a:ext cx="1426464" cy="566928"/>
          </a:xfrm>
          <a:prstGeom prst="roundRect">
            <a:avLst>
              <a:gd name="adj" fmla="val 9677"/>
            </a:avLst>
          </a:prstGeom>
          <a:solidFill>
            <a:srgbClr val="101A22"/>
          </a:solidFill>
          <a:ln w="17145">
            <a:solidFill>
              <a:srgbClr val="6DE08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1248" y="2852928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8FA"/>
                </a:solidFill>
              </a:rPr>
              <a:t>Component Search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898648" y="2743200"/>
            <a:ext cx="1426464" cy="566928"/>
          </a:xfrm>
          <a:prstGeom prst="roundRect">
            <a:avLst>
              <a:gd name="adj" fmla="val 9677"/>
            </a:avLst>
          </a:prstGeom>
          <a:solidFill>
            <a:srgbClr val="101A22"/>
          </a:solidFill>
          <a:ln w="17145">
            <a:solidFill>
              <a:srgbClr val="B88C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990088" y="2852928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8FA"/>
                </a:solidFill>
              </a:rPr>
              <a:t>AI Build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047488" y="2743200"/>
            <a:ext cx="1426464" cy="566928"/>
          </a:xfrm>
          <a:prstGeom prst="roundRect">
            <a:avLst>
              <a:gd name="adj" fmla="val 9677"/>
            </a:avLst>
          </a:prstGeom>
          <a:solidFill>
            <a:srgbClr val="101A22"/>
          </a:solidFill>
          <a:ln w="17145">
            <a:solidFill>
              <a:srgbClr val="6DE08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138928" y="2852928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8FA"/>
                </a:solidFill>
              </a:rPr>
              <a:t>Tool Call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196328" y="2743200"/>
            <a:ext cx="1426464" cy="566928"/>
          </a:xfrm>
          <a:prstGeom prst="roundRect">
            <a:avLst>
              <a:gd name="adj" fmla="val 9677"/>
            </a:avLst>
          </a:prstGeom>
          <a:solidFill>
            <a:srgbClr val="101A22"/>
          </a:solidFill>
          <a:ln w="17145">
            <a:solidFill>
              <a:srgbClr val="FFC65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287768" y="2852928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8FA"/>
                </a:solidFill>
              </a:rPr>
              <a:t>Compile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9345168" y="2743200"/>
            <a:ext cx="1426464" cy="566928"/>
          </a:xfrm>
          <a:prstGeom prst="roundRect">
            <a:avLst>
              <a:gd name="adj" fmla="val 9677"/>
            </a:avLst>
          </a:prstGeom>
          <a:solidFill>
            <a:srgbClr val="101A22"/>
          </a:solidFill>
          <a:ln w="17145">
            <a:solidFill>
              <a:srgbClr val="2AD6C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436608" y="2852928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8FA"/>
                </a:solidFill>
              </a:rPr>
              <a:t>Preview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49808" y="3977640"/>
            <a:ext cx="1426464" cy="566928"/>
          </a:xfrm>
          <a:prstGeom prst="roundRect">
            <a:avLst>
              <a:gd name="adj" fmla="val 9677"/>
            </a:avLst>
          </a:prstGeom>
          <a:solidFill>
            <a:srgbClr val="101A22"/>
          </a:solidFill>
          <a:ln w="17145">
            <a:solidFill>
              <a:srgbClr val="6AB8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41248" y="4087368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8FA"/>
                </a:solidFill>
              </a:rPr>
              <a:t>Human Gate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2898648" y="3977640"/>
            <a:ext cx="1426464" cy="566928"/>
          </a:xfrm>
          <a:prstGeom prst="roundRect">
            <a:avLst>
              <a:gd name="adj" fmla="val 9677"/>
            </a:avLst>
          </a:prstGeom>
          <a:solidFill>
            <a:srgbClr val="101A22"/>
          </a:solidFill>
          <a:ln w="17145">
            <a:solidFill>
              <a:srgbClr val="FFC65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990088" y="4087368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8FA"/>
                </a:solidFill>
              </a:rPr>
              <a:t>Lint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047488" y="3977640"/>
            <a:ext cx="1426464" cy="566928"/>
          </a:xfrm>
          <a:prstGeom prst="roundRect">
            <a:avLst>
              <a:gd name="adj" fmla="val 9677"/>
            </a:avLst>
          </a:prstGeom>
          <a:solidFill>
            <a:srgbClr val="101A22"/>
          </a:solidFill>
          <a:ln w="17145">
            <a:solidFill>
              <a:srgbClr val="FF6B6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138928" y="4087368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8FA"/>
                </a:solidFill>
              </a:rPr>
              <a:t>Repair Loop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7196328" y="3977640"/>
            <a:ext cx="1426464" cy="566928"/>
          </a:xfrm>
          <a:prstGeom prst="roundRect">
            <a:avLst>
              <a:gd name="adj" fmla="val 9677"/>
            </a:avLst>
          </a:prstGeom>
          <a:solidFill>
            <a:srgbClr val="101A22"/>
          </a:solidFill>
          <a:ln w="17145">
            <a:solidFill>
              <a:srgbClr val="6DE08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287768" y="4087368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8FA"/>
                </a:solidFill>
              </a:rPr>
              <a:t>Package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9345168" y="3977640"/>
            <a:ext cx="1426464" cy="566928"/>
          </a:xfrm>
          <a:prstGeom prst="roundRect">
            <a:avLst>
              <a:gd name="adj" fmla="val 9677"/>
            </a:avLst>
          </a:prstGeom>
          <a:solidFill>
            <a:srgbClr val="101A22"/>
          </a:solidFill>
          <a:ln w="17145">
            <a:solidFill>
              <a:srgbClr val="2AD6C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436608" y="4087368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8FA"/>
                </a:solidFill>
              </a:rPr>
              <a:t>Deploy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2176272" y="1792224"/>
            <a:ext cx="722376" cy="0"/>
          </a:xfrm>
          <a:prstGeom prst="line">
            <a:avLst/>
          </a:prstGeom>
          <a:noFill/>
          <a:ln w="15875">
            <a:solidFill>
              <a:srgbClr val="314551"/>
            </a:solidFill>
            <a:prstDash val="solid"/>
            <a:headEnd type="none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4325112" y="1792224"/>
            <a:ext cx="722376" cy="0"/>
          </a:xfrm>
          <a:prstGeom prst="line">
            <a:avLst/>
          </a:prstGeom>
          <a:noFill/>
          <a:ln w="15875">
            <a:solidFill>
              <a:srgbClr val="314551"/>
            </a:solidFill>
            <a:prstDash val="solid"/>
            <a:headEnd type="none"/>
            <a:tailEnd type="triangle"/>
          </a:ln>
        </p:spPr>
      </p:sp>
      <p:sp>
        <p:nvSpPr>
          <p:cNvPr id="40" name="Shape 37"/>
          <p:cNvSpPr/>
          <p:nvPr/>
        </p:nvSpPr>
        <p:spPr>
          <a:xfrm>
            <a:off x="6473952" y="1792224"/>
            <a:ext cx="722376" cy="0"/>
          </a:xfrm>
          <a:prstGeom prst="line">
            <a:avLst/>
          </a:prstGeom>
          <a:noFill/>
          <a:ln w="15875">
            <a:solidFill>
              <a:srgbClr val="314551"/>
            </a:solidFill>
            <a:prstDash val="solid"/>
            <a:headEnd type="none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8622792" y="1792224"/>
            <a:ext cx="722376" cy="0"/>
          </a:xfrm>
          <a:prstGeom prst="line">
            <a:avLst/>
          </a:prstGeom>
          <a:noFill/>
          <a:ln w="15875">
            <a:solidFill>
              <a:srgbClr val="314551"/>
            </a:solidFill>
            <a:prstDash val="solid"/>
            <a:headEnd type="none"/>
            <a:tailEnd type="triangle"/>
          </a:ln>
        </p:spPr>
      </p:sp>
      <p:sp>
        <p:nvSpPr>
          <p:cNvPr id="42" name="Shape 39"/>
          <p:cNvSpPr/>
          <p:nvPr/>
        </p:nvSpPr>
        <p:spPr>
          <a:xfrm>
            <a:off x="2176272" y="3026664"/>
            <a:ext cx="722376" cy="0"/>
          </a:xfrm>
          <a:prstGeom prst="line">
            <a:avLst/>
          </a:prstGeom>
          <a:noFill/>
          <a:ln w="15875">
            <a:solidFill>
              <a:srgbClr val="314551"/>
            </a:solidFill>
            <a:prstDash val="solid"/>
            <a:headEnd type="none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4325112" y="3026664"/>
            <a:ext cx="722376" cy="0"/>
          </a:xfrm>
          <a:prstGeom prst="line">
            <a:avLst/>
          </a:prstGeom>
          <a:noFill/>
          <a:ln w="15875">
            <a:solidFill>
              <a:srgbClr val="314551"/>
            </a:solidFill>
            <a:prstDash val="solid"/>
            <a:headEnd type="none"/>
            <a:tailEnd type="triangle"/>
          </a:ln>
        </p:spPr>
      </p:sp>
      <p:sp>
        <p:nvSpPr>
          <p:cNvPr id="44" name="Shape 41"/>
          <p:cNvSpPr/>
          <p:nvPr/>
        </p:nvSpPr>
        <p:spPr>
          <a:xfrm>
            <a:off x="6473952" y="3026664"/>
            <a:ext cx="722376" cy="0"/>
          </a:xfrm>
          <a:prstGeom prst="line">
            <a:avLst/>
          </a:prstGeom>
          <a:noFill/>
          <a:ln w="15875">
            <a:solidFill>
              <a:srgbClr val="314551"/>
            </a:solidFill>
            <a:prstDash val="solid"/>
            <a:headEnd type="none"/>
            <a:tailEnd type="triangle"/>
          </a:ln>
        </p:spPr>
      </p:sp>
      <p:sp>
        <p:nvSpPr>
          <p:cNvPr id="45" name="Shape 42"/>
          <p:cNvSpPr/>
          <p:nvPr/>
        </p:nvSpPr>
        <p:spPr>
          <a:xfrm>
            <a:off x="8622792" y="3026664"/>
            <a:ext cx="722376" cy="0"/>
          </a:xfrm>
          <a:prstGeom prst="line">
            <a:avLst/>
          </a:prstGeom>
          <a:noFill/>
          <a:ln w="15875">
            <a:solidFill>
              <a:srgbClr val="314551"/>
            </a:solidFill>
            <a:prstDash val="solid"/>
            <a:headEnd type="none"/>
            <a:tailEnd type="triangle"/>
          </a:ln>
        </p:spPr>
      </p:sp>
      <p:sp>
        <p:nvSpPr>
          <p:cNvPr id="46" name="Shape 43"/>
          <p:cNvSpPr/>
          <p:nvPr/>
        </p:nvSpPr>
        <p:spPr>
          <a:xfrm>
            <a:off x="2176272" y="4261104"/>
            <a:ext cx="722376" cy="0"/>
          </a:xfrm>
          <a:prstGeom prst="line">
            <a:avLst/>
          </a:prstGeom>
          <a:noFill/>
          <a:ln w="15875">
            <a:solidFill>
              <a:srgbClr val="314551"/>
            </a:solidFill>
            <a:prstDash val="solid"/>
            <a:headEnd type="none"/>
            <a:tailEnd type="triangle"/>
          </a:ln>
        </p:spPr>
      </p:sp>
      <p:sp>
        <p:nvSpPr>
          <p:cNvPr id="47" name="Shape 44"/>
          <p:cNvSpPr/>
          <p:nvPr/>
        </p:nvSpPr>
        <p:spPr>
          <a:xfrm>
            <a:off x="4325112" y="4261104"/>
            <a:ext cx="722376" cy="0"/>
          </a:xfrm>
          <a:prstGeom prst="line">
            <a:avLst/>
          </a:prstGeom>
          <a:noFill/>
          <a:ln w="15875">
            <a:solidFill>
              <a:srgbClr val="314551"/>
            </a:solidFill>
            <a:prstDash val="solid"/>
            <a:headEnd type="none"/>
            <a:tailEnd type="triangle"/>
          </a:ln>
        </p:spPr>
      </p:sp>
      <p:sp>
        <p:nvSpPr>
          <p:cNvPr id="48" name="Shape 45"/>
          <p:cNvSpPr/>
          <p:nvPr/>
        </p:nvSpPr>
        <p:spPr>
          <a:xfrm>
            <a:off x="6473952" y="4261104"/>
            <a:ext cx="722376" cy="0"/>
          </a:xfrm>
          <a:prstGeom prst="line">
            <a:avLst/>
          </a:prstGeom>
          <a:noFill/>
          <a:ln w="15875">
            <a:solidFill>
              <a:srgbClr val="314551"/>
            </a:solidFill>
            <a:prstDash val="solid"/>
            <a:headEnd type="none"/>
            <a:tailEnd type="triangle"/>
          </a:ln>
        </p:spPr>
      </p:sp>
      <p:sp>
        <p:nvSpPr>
          <p:cNvPr id="49" name="Shape 46"/>
          <p:cNvSpPr/>
          <p:nvPr/>
        </p:nvSpPr>
        <p:spPr>
          <a:xfrm>
            <a:off x="8622792" y="4261104"/>
            <a:ext cx="722376" cy="0"/>
          </a:xfrm>
          <a:prstGeom prst="line">
            <a:avLst/>
          </a:prstGeom>
          <a:noFill/>
          <a:ln w="15875">
            <a:solidFill>
              <a:srgbClr val="314551"/>
            </a:solidFill>
            <a:prstDash val="solid"/>
            <a:headEnd type="none"/>
            <a:tailEnd type="triangle"/>
          </a:ln>
        </p:spPr>
      </p:sp>
      <p:sp>
        <p:nvSpPr>
          <p:cNvPr id="50" name="Shape 47"/>
          <p:cNvSpPr/>
          <p:nvPr/>
        </p:nvSpPr>
        <p:spPr>
          <a:xfrm>
            <a:off x="2176272" y="1792224"/>
            <a:ext cx="-1426464" cy="950976"/>
          </a:xfrm>
          <a:prstGeom prst="line">
            <a:avLst/>
          </a:prstGeom>
          <a:noFill/>
          <a:ln w="15875">
            <a:solidFill>
              <a:srgbClr val="2AD6C8"/>
            </a:solidFill>
            <a:prstDash val="solid"/>
            <a:headEnd type="none"/>
            <a:tailEnd type="triangle"/>
          </a:ln>
        </p:spPr>
      </p:sp>
      <p:sp>
        <p:nvSpPr>
          <p:cNvPr id="51" name="Shape 48"/>
          <p:cNvSpPr/>
          <p:nvPr/>
        </p:nvSpPr>
        <p:spPr>
          <a:xfrm>
            <a:off x="4325112" y="1792224"/>
            <a:ext cx="-1426464" cy="950976"/>
          </a:xfrm>
          <a:prstGeom prst="line">
            <a:avLst/>
          </a:prstGeom>
          <a:noFill/>
          <a:ln w="15875">
            <a:solidFill>
              <a:srgbClr val="FFC65A"/>
            </a:solidFill>
            <a:prstDash val="solid"/>
            <a:headEnd type="none"/>
            <a:tailEnd type="triangle"/>
          </a:ln>
        </p:spPr>
      </p:sp>
      <p:sp>
        <p:nvSpPr>
          <p:cNvPr id="52" name="Shape 49"/>
          <p:cNvSpPr/>
          <p:nvPr/>
        </p:nvSpPr>
        <p:spPr>
          <a:xfrm>
            <a:off x="6473952" y="1792224"/>
            <a:ext cx="-1426464" cy="950976"/>
          </a:xfrm>
          <a:prstGeom prst="line">
            <a:avLst/>
          </a:prstGeom>
          <a:noFill/>
          <a:ln w="15875">
            <a:solidFill>
              <a:srgbClr val="6AB8FF"/>
            </a:solidFill>
            <a:prstDash val="solid"/>
            <a:headEnd type="none"/>
            <a:tailEnd type="triangle"/>
          </a:ln>
        </p:spPr>
      </p:sp>
      <p:sp>
        <p:nvSpPr>
          <p:cNvPr id="53" name="Shape 50"/>
          <p:cNvSpPr/>
          <p:nvPr/>
        </p:nvSpPr>
        <p:spPr>
          <a:xfrm>
            <a:off x="8622792" y="1792224"/>
            <a:ext cx="-1426464" cy="950976"/>
          </a:xfrm>
          <a:prstGeom prst="line">
            <a:avLst/>
          </a:prstGeom>
          <a:noFill/>
          <a:ln w="15875">
            <a:solidFill>
              <a:srgbClr val="6AB8FF"/>
            </a:solidFill>
            <a:prstDash val="solid"/>
            <a:headEnd type="none"/>
            <a:tailEnd type="triangle"/>
          </a:ln>
        </p:spPr>
      </p:sp>
      <p:sp>
        <p:nvSpPr>
          <p:cNvPr id="54" name="Shape 51"/>
          <p:cNvSpPr/>
          <p:nvPr/>
        </p:nvSpPr>
        <p:spPr>
          <a:xfrm>
            <a:off x="10771632" y="1792224"/>
            <a:ext cx="-1426464" cy="950976"/>
          </a:xfrm>
          <a:prstGeom prst="line">
            <a:avLst/>
          </a:prstGeom>
          <a:noFill/>
          <a:ln w="15875">
            <a:solidFill>
              <a:srgbClr val="2AD6C8"/>
            </a:solidFill>
            <a:prstDash val="solid"/>
            <a:headEnd type="none"/>
            <a:tailEnd type="triangle"/>
          </a:ln>
        </p:spPr>
      </p:sp>
      <p:sp>
        <p:nvSpPr>
          <p:cNvPr id="55" name="Shape 52"/>
          <p:cNvSpPr/>
          <p:nvPr/>
        </p:nvSpPr>
        <p:spPr>
          <a:xfrm>
            <a:off x="2898648" y="3310128"/>
            <a:ext cx="-722376" cy="667512"/>
          </a:xfrm>
          <a:prstGeom prst="line">
            <a:avLst/>
          </a:prstGeom>
          <a:noFill/>
          <a:ln w="15875">
            <a:solidFill>
              <a:srgbClr val="6DE08C"/>
            </a:solidFill>
            <a:prstDash val="solid"/>
            <a:headEnd type="none"/>
            <a:tailEnd type="triangle"/>
          </a:ln>
        </p:spPr>
      </p:sp>
      <p:sp>
        <p:nvSpPr>
          <p:cNvPr id="56" name="Shape 53"/>
          <p:cNvSpPr/>
          <p:nvPr/>
        </p:nvSpPr>
        <p:spPr>
          <a:xfrm>
            <a:off x="5047488" y="3310128"/>
            <a:ext cx="-722376" cy="667512"/>
          </a:xfrm>
          <a:prstGeom prst="line">
            <a:avLst/>
          </a:prstGeom>
          <a:noFill/>
          <a:ln w="15875">
            <a:solidFill>
              <a:srgbClr val="B88CFF"/>
            </a:solidFill>
            <a:prstDash val="solid"/>
            <a:headEnd type="none"/>
            <a:tailEnd type="triangle"/>
          </a:ln>
        </p:spPr>
      </p:sp>
      <p:sp>
        <p:nvSpPr>
          <p:cNvPr id="57" name="Shape 54"/>
          <p:cNvSpPr/>
          <p:nvPr/>
        </p:nvSpPr>
        <p:spPr>
          <a:xfrm>
            <a:off x="7196328" y="3310128"/>
            <a:ext cx="-722376" cy="667512"/>
          </a:xfrm>
          <a:prstGeom prst="line">
            <a:avLst/>
          </a:prstGeom>
          <a:noFill/>
          <a:ln w="15875">
            <a:solidFill>
              <a:srgbClr val="FFC65A"/>
            </a:solidFill>
            <a:prstDash val="solid"/>
            <a:headEnd type="none"/>
            <a:tailEnd type="triangle"/>
          </a:ln>
        </p:spPr>
      </p:sp>
      <p:sp>
        <p:nvSpPr>
          <p:cNvPr id="58" name="Shape 55"/>
          <p:cNvSpPr/>
          <p:nvPr/>
        </p:nvSpPr>
        <p:spPr>
          <a:xfrm>
            <a:off x="6473952" y="4544568"/>
            <a:ext cx="-1426464" cy="-1234440"/>
          </a:xfrm>
          <a:prstGeom prst="line">
            <a:avLst/>
          </a:prstGeom>
          <a:noFill/>
          <a:ln w="15875">
            <a:solidFill>
              <a:srgbClr val="FF6B6B"/>
            </a:solidFill>
            <a:prstDash val="solid"/>
            <a:headEnd type="none"/>
            <a:tailEnd type="triangle"/>
          </a:ln>
        </p:spPr>
      </p:sp>
      <p:sp>
        <p:nvSpPr>
          <p:cNvPr id="59" name="Shape 56"/>
          <p:cNvSpPr/>
          <p:nvPr/>
        </p:nvSpPr>
        <p:spPr>
          <a:xfrm>
            <a:off x="841248" y="5504688"/>
            <a:ext cx="914400" cy="320040"/>
          </a:xfrm>
          <a:prstGeom prst="roundRect">
            <a:avLst>
              <a:gd name="adj" fmla="val 11429"/>
            </a:avLst>
          </a:prstGeom>
          <a:solidFill>
            <a:srgbClr val="6AB8FF"/>
          </a:solidFill>
          <a:ln w="12700">
            <a:solidFill>
              <a:srgbClr val="6AB8FF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914400" y="5582412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71016"/>
                </a:solidFill>
              </a:rPr>
              <a:t>Docs</a:t>
            </a:r>
            <a:endParaRPr lang="en-US" sz="820" dirty="0"/>
          </a:p>
        </p:txBody>
      </p:sp>
      <p:sp>
        <p:nvSpPr>
          <p:cNvPr id="61" name="Shape 58"/>
          <p:cNvSpPr/>
          <p:nvPr/>
        </p:nvSpPr>
        <p:spPr>
          <a:xfrm>
            <a:off x="1298448" y="5504688"/>
            <a:ext cx="2999232" cy="-2478024"/>
          </a:xfrm>
          <a:prstGeom prst="line">
            <a:avLst/>
          </a:prstGeom>
          <a:noFill/>
          <a:ln w="15875">
            <a:solidFill>
              <a:srgbClr val="6F7F89"/>
            </a:solidFill>
            <a:prstDash val="solid"/>
            <a:headEnd type="none"/>
            <a:tailEnd type="triangle"/>
          </a:ln>
        </p:spPr>
      </p:sp>
      <p:sp>
        <p:nvSpPr>
          <p:cNvPr id="62" name="Shape 59"/>
          <p:cNvSpPr/>
          <p:nvPr/>
        </p:nvSpPr>
        <p:spPr>
          <a:xfrm>
            <a:off x="2011680" y="5504688"/>
            <a:ext cx="914400" cy="320040"/>
          </a:xfrm>
          <a:prstGeom prst="roundRect">
            <a:avLst>
              <a:gd name="adj" fmla="val 11429"/>
            </a:avLst>
          </a:prstGeom>
          <a:solidFill>
            <a:srgbClr val="B88CFF"/>
          </a:solidFill>
          <a:ln w="12700">
            <a:solidFill>
              <a:srgbClr val="B88CFF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2084832" y="5582412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71016"/>
                </a:solidFill>
              </a:rPr>
              <a:t>Memory</a:t>
            </a:r>
            <a:endParaRPr lang="en-US" sz="820" dirty="0"/>
          </a:p>
        </p:txBody>
      </p:sp>
      <p:sp>
        <p:nvSpPr>
          <p:cNvPr id="64" name="Shape 61"/>
          <p:cNvSpPr/>
          <p:nvPr/>
        </p:nvSpPr>
        <p:spPr>
          <a:xfrm>
            <a:off x="2468880" y="5504688"/>
            <a:ext cx="1828800" cy="-2478024"/>
          </a:xfrm>
          <a:prstGeom prst="line">
            <a:avLst/>
          </a:prstGeom>
          <a:noFill/>
          <a:ln w="15875">
            <a:solidFill>
              <a:srgbClr val="6F7F89"/>
            </a:solidFill>
            <a:prstDash val="solid"/>
            <a:headEnd type="none"/>
            <a:tailEnd type="triangle"/>
          </a:ln>
        </p:spPr>
      </p:sp>
      <p:sp>
        <p:nvSpPr>
          <p:cNvPr id="65" name="Shape 62"/>
          <p:cNvSpPr/>
          <p:nvPr/>
        </p:nvSpPr>
        <p:spPr>
          <a:xfrm>
            <a:off x="3182112" y="5504688"/>
            <a:ext cx="914400" cy="320040"/>
          </a:xfrm>
          <a:prstGeom prst="roundRect">
            <a:avLst>
              <a:gd name="adj" fmla="val 11429"/>
            </a:avLst>
          </a:prstGeom>
          <a:solidFill>
            <a:srgbClr val="6DE08C"/>
          </a:solidFill>
          <a:ln w="12700">
            <a:solidFill>
              <a:srgbClr val="6DE08C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3255264" y="5582412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71016"/>
                </a:solidFill>
              </a:rPr>
              <a:t>Tools</a:t>
            </a:r>
            <a:endParaRPr lang="en-US" sz="820" dirty="0"/>
          </a:p>
        </p:txBody>
      </p:sp>
      <p:sp>
        <p:nvSpPr>
          <p:cNvPr id="67" name="Shape 64"/>
          <p:cNvSpPr/>
          <p:nvPr/>
        </p:nvSpPr>
        <p:spPr>
          <a:xfrm>
            <a:off x="3639312" y="5504688"/>
            <a:ext cx="658368" cy="-2478024"/>
          </a:xfrm>
          <a:prstGeom prst="line">
            <a:avLst/>
          </a:prstGeom>
          <a:noFill/>
          <a:ln w="15875">
            <a:solidFill>
              <a:srgbClr val="6F7F89"/>
            </a:solidFill>
            <a:prstDash val="solid"/>
            <a:headEnd type="none"/>
            <a:tailEnd type="triangle"/>
          </a:ln>
        </p:spPr>
      </p:sp>
      <p:sp>
        <p:nvSpPr>
          <p:cNvPr id="68" name="Shape 65"/>
          <p:cNvSpPr/>
          <p:nvPr/>
        </p:nvSpPr>
        <p:spPr>
          <a:xfrm>
            <a:off x="4352544" y="5504688"/>
            <a:ext cx="914400" cy="320040"/>
          </a:xfrm>
          <a:prstGeom prst="roundRect">
            <a:avLst>
              <a:gd name="adj" fmla="val 11429"/>
            </a:avLst>
          </a:prstGeom>
          <a:solidFill>
            <a:srgbClr val="FFC65A"/>
          </a:solidFill>
          <a:ln w="12700">
            <a:solidFill>
              <a:srgbClr val="FFC65A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4425696" y="5582412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71016"/>
                </a:solidFill>
              </a:rPr>
              <a:t>Skills</a:t>
            </a:r>
            <a:endParaRPr lang="en-US" sz="820" dirty="0"/>
          </a:p>
        </p:txBody>
      </p:sp>
      <p:sp>
        <p:nvSpPr>
          <p:cNvPr id="70" name="Shape 67"/>
          <p:cNvSpPr/>
          <p:nvPr/>
        </p:nvSpPr>
        <p:spPr>
          <a:xfrm>
            <a:off x="4809744" y="5504688"/>
            <a:ext cx="-512064" cy="-2478024"/>
          </a:xfrm>
          <a:prstGeom prst="line">
            <a:avLst/>
          </a:prstGeom>
          <a:noFill/>
          <a:ln w="15875">
            <a:solidFill>
              <a:srgbClr val="6F7F89"/>
            </a:solidFill>
            <a:prstDash val="solid"/>
            <a:headEnd type="none"/>
            <a:tailEnd type="triangle"/>
          </a:ln>
        </p:spPr>
      </p:sp>
      <p:sp>
        <p:nvSpPr>
          <p:cNvPr id="71" name="Shape 68"/>
          <p:cNvSpPr/>
          <p:nvPr/>
        </p:nvSpPr>
        <p:spPr>
          <a:xfrm>
            <a:off x="5522976" y="5504688"/>
            <a:ext cx="914400" cy="320040"/>
          </a:xfrm>
          <a:prstGeom prst="roundRect">
            <a:avLst>
              <a:gd name="adj" fmla="val 11429"/>
            </a:avLst>
          </a:prstGeom>
          <a:solidFill>
            <a:srgbClr val="2AD6C8"/>
          </a:solidFill>
          <a:ln w="12700">
            <a:solidFill>
              <a:srgbClr val="2AD6C8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5596128" y="5582412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71016"/>
                </a:solidFill>
              </a:rPr>
              <a:t>Components</a:t>
            </a:r>
            <a:endParaRPr lang="en-US" sz="820" dirty="0"/>
          </a:p>
        </p:txBody>
      </p:sp>
      <p:sp>
        <p:nvSpPr>
          <p:cNvPr id="73" name="Shape 70"/>
          <p:cNvSpPr/>
          <p:nvPr/>
        </p:nvSpPr>
        <p:spPr>
          <a:xfrm>
            <a:off x="5980176" y="5504688"/>
            <a:ext cx="-1682496" cy="-2478024"/>
          </a:xfrm>
          <a:prstGeom prst="line">
            <a:avLst/>
          </a:prstGeom>
          <a:noFill/>
          <a:ln w="15875">
            <a:solidFill>
              <a:srgbClr val="6F7F89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6"/>
          </a:solidFill>
          <a:ln w="12700">
            <a:solidFill>
              <a:srgbClr val="0710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09151D"/>
          </a:solidFill>
          <a:ln w="12700">
            <a:solidFill>
              <a:srgbClr val="09151D"/>
            </a:solidFill>
            <a:prstDash val="solid"/>
          </a:ln>
        </p:spPr>
      </p:sp>
      <p:pic>
        <p:nvPicPr>
          <p:cNvPr id="4" name="Image 0" descr="/Users/ivx/Documents/VLC-Marketing/brief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6473952"/>
            <a:ext cx="310896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" y="646480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6BE"/>
                </a:solidFill>
              </a:rPr>
              <a:t>VisualLogic AI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66928" y="411480"/>
            <a:ext cx="6217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8FA"/>
                </a:solidFill>
              </a:rPr>
              <a:t>Real VLC Flow mode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85216" y="941832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A9B6BE"/>
                </a:solidFill>
              </a:rPr>
              <a:t>Complex DAG workflows are already visible and runnable inside VLC.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658368" y="1234440"/>
            <a:ext cx="10881360" cy="4800600"/>
          </a:xfrm>
          <a:prstGeom prst="rect">
            <a:avLst/>
          </a:prstGeom>
          <a:solidFill>
            <a:srgbClr val="101A22"/>
          </a:solidFill>
          <a:ln w="11430">
            <a:solidFill>
              <a:srgbClr val="314551"/>
            </a:solidFill>
            <a:prstDash val="solid"/>
          </a:ln>
        </p:spPr>
      </p:sp>
      <p:pic>
        <p:nvPicPr>
          <p:cNvPr id="9" name="Image 1" descr="/Users/ivx/Documents/VLC-Marketing/brief/assets/vlc-flow-mode-2026-04-1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344168"/>
            <a:ext cx="10661904" cy="45811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68096" y="5440680"/>
            <a:ext cx="10661904" cy="484632"/>
          </a:xfrm>
          <a:prstGeom prst="rect">
            <a:avLst/>
          </a:prstGeom>
          <a:solidFill>
            <a:srgbClr val="071016">
              <a:alpha val="90000"/>
            </a:srgbClr>
          </a:solidFill>
          <a:ln w="12700">
            <a:solidFill>
              <a:srgbClr val="071016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60120" y="5559552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F8FA"/>
                </a:solidFill>
              </a:rPr>
              <a:t>A real VisualLogic graph: specialized nodes, visible state, logs, validation, and repair loops.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6"/>
          </a:solidFill>
          <a:ln w="12700">
            <a:solidFill>
              <a:srgbClr val="0710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09151D"/>
          </a:solidFill>
          <a:ln w="12700">
            <a:solidFill>
              <a:srgbClr val="09151D"/>
            </a:solidFill>
            <a:prstDash val="solid"/>
          </a:ln>
        </p:spPr>
      </p:sp>
      <p:pic>
        <p:nvPicPr>
          <p:cNvPr id="4" name="Image 0" descr="/Users/ivx/Documents/VLC-Marketing/brief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6473952"/>
            <a:ext cx="310896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" y="646480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6BE"/>
                </a:solidFill>
              </a:rPr>
              <a:t>VisualLogic AI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66928" y="411480"/>
            <a:ext cx="6217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8FA"/>
                </a:solidFill>
              </a:rPr>
              <a:t>Agent Apps are DAG plus manifest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85216" y="941832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A9B6BE"/>
                </a:solidFill>
              </a:rPr>
              <a:t>A workflow becomes a runnable, shareable application.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1097280" y="1828800"/>
            <a:ext cx="1463040" cy="749808"/>
          </a:xfrm>
          <a:prstGeom prst="roundRect">
            <a:avLst>
              <a:gd name="adj" fmla="val 7317"/>
            </a:avLst>
          </a:prstGeom>
          <a:solidFill>
            <a:srgbClr val="101A22"/>
          </a:solidFill>
          <a:ln w="17145">
            <a:solidFill>
              <a:srgbClr val="2AD6C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88720" y="193852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8FA"/>
                </a:solidFill>
              </a:rPr>
              <a:t>DAG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88720" y="2350008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A9B6BE"/>
                </a:solidFill>
              </a:rPr>
              <a:t>process</a:t>
            </a:r>
            <a:endParaRPr lang="en-US" sz="680" dirty="0"/>
          </a:p>
        </p:txBody>
      </p:sp>
      <p:sp>
        <p:nvSpPr>
          <p:cNvPr id="11" name="Shape 8"/>
          <p:cNvSpPr/>
          <p:nvPr/>
        </p:nvSpPr>
        <p:spPr>
          <a:xfrm>
            <a:off x="3794760" y="1828800"/>
            <a:ext cx="1645920" cy="749808"/>
          </a:xfrm>
          <a:prstGeom prst="roundRect">
            <a:avLst>
              <a:gd name="adj" fmla="val 7317"/>
            </a:avLst>
          </a:prstGeom>
          <a:solidFill>
            <a:srgbClr val="101A22"/>
          </a:solidFill>
          <a:ln w="17145">
            <a:solidFill>
              <a:srgbClr val="FFC6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86200" y="193852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8FA"/>
                </a:solidFill>
              </a:rPr>
              <a:t>Manifest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886200" y="2350008"/>
            <a:ext cx="1463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A9B6BE"/>
                </a:solidFill>
              </a:rPr>
              <a:t>runtime</a:t>
            </a:r>
            <a:endParaRPr lang="en-US" sz="680" dirty="0"/>
          </a:p>
        </p:txBody>
      </p:sp>
      <p:sp>
        <p:nvSpPr>
          <p:cNvPr id="14" name="Shape 11"/>
          <p:cNvSpPr/>
          <p:nvPr/>
        </p:nvSpPr>
        <p:spPr>
          <a:xfrm>
            <a:off x="6720840" y="1600200"/>
            <a:ext cx="2011680" cy="1115568"/>
          </a:xfrm>
          <a:prstGeom prst="roundRect">
            <a:avLst>
              <a:gd name="adj" fmla="val 4918"/>
            </a:avLst>
          </a:prstGeom>
          <a:solidFill>
            <a:srgbClr val="101A22"/>
          </a:solidFill>
          <a:ln w="17145">
            <a:solidFill>
              <a:srgbClr val="6DE08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12280" y="17099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8FA"/>
                </a:solidFill>
              </a:rPr>
              <a:t>Agent App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812280" y="2487168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A9B6BE"/>
                </a:solidFill>
              </a:rPr>
              <a:t>runnable</a:t>
            </a:r>
            <a:endParaRPr lang="en-US" sz="680" dirty="0"/>
          </a:p>
        </p:txBody>
      </p:sp>
      <p:sp>
        <p:nvSpPr>
          <p:cNvPr id="17" name="Shape 14"/>
          <p:cNvSpPr/>
          <p:nvPr/>
        </p:nvSpPr>
        <p:spPr>
          <a:xfrm>
            <a:off x="2560320" y="2203704"/>
            <a:ext cx="1234440" cy="0"/>
          </a:xfrm>
          <a:prstGeom prst="line">
            <a:avLst/>
          </a:prstGeom>
          <a:noFill/>
          <a:ln w="15875">
            <a:solidFill>
              <a:srgbClr val="314551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5440680" y="2203704"/>
            <a:ext cx="1280160" cy="-45720"/>
          </a:xfrm>
          <a:prstGeom prst="line">
            <a:avLst/>
          </a:prstGeom>
          <a:noFill/>
          <a:ln w="15875">
            <a:solidFill>
              <a:srgbClr val="314551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987552" y="3657600"/>
            <a:ext cx="2743200" cy="658368"/>
          </a:xfrm>
          <a:prstGeom prst="roundRect">
            <a:avLst>
              <a:gd name="adj" fmla="val 5556"/>
            </a:avLst>
          </a:prstGeom>
          <a:solidFill>
            <a:srgbClr val="101A22"/>
          </a:solidFill>
          <a:ln w="10160">
            <a:solidFill>
              <a:srgbClr val="31455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52144" y="3813048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D6C8"/>
                </a:solidFill>
              </a:rPr>
              <a:t>Inputs / outputs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52144" y="4160520"/>
            <a:ext cx="2414016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4F8FA"/>
                </a:solidFill>
              </a:rPr>
              <a:t>Typed entry points</a:t>
            </a:r>
            <a:endParaRPr lang="en-US" sz="1220" dirty="0"/>
          </a:p>
        </p:txBody>
      </p:sp>
      <p:sp>
        <p:nvSpPr>
          <p:cNvPr id="22" name="Shape 19"/>
          <p:cNvSpPr/>
          <p:nvPr/>
        </p:nvSpPr>
        <p:spPr>
          <a:xfrm>
            <a:off x="4279392" y="3657600"/>
            <a:ext cx="2743200" cy="658368"/>
          </a:xfrm>
          <a:prstGeom prst="roundRect">
            <a:avLst>
              <a:gd name="adj" fmla="val 5556"/>
            </a:avLst>
          </a:prstGeom>
          <a:solidFill>
            <a:srgbClr val="101A22"/>
          </a:solidFill>
          <a:ln w="10160">
            <a:solidFill>
              <a:srgbClr val="31455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443984" y="3813048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B8FF"/>
                </a:solidFill>
              </a:rPr>
              <a:t>UI panels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443984" y="4160520"/>
            <a:ext cx="2414016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4F8FA"/>
                </a:solidFill>
              </a:rPr>
              <a:t>Interaction surface</a:t>
            </a:r>
            <a:endParaRPr lang="en-US" sz="1220" dirty="0"/>
          </a:p>
        </p:txBody>
      </p:sp>
      <p:sp>
        <p:nvSpPr>
          <p:cNvPr id="25" name="Shape 22"/>
          <p:cNvSpPr/>
          <p:nvPr/>
        </p:nvSpPr>
        <p:spPr>
          <a:xfrm>
            <a:off x="7571232" y="3657600"/>
            <a:ext cx="2743200" cy="658368"/>
          </a:xfrm>
          <a:prstGeom prst="roundRect">
            <a:avLst>
              <a:gd name="adj" fmla="val 5556"/>
            </a:avLst>
          </a:prstGeom>
          <a:solidFill>
            <a:srgbClr val="101A22"/>
          </a:solidFill>
          <a:ln w="10160">
            <a:solidFill>
              <a:srgbClr val="31455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735824" y="3813048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C65A"/>
                </a:solidFill>
              </a:rPr>
              <a:t>Permissions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735824" y="4160520"/>
            <a:ext cx="2414016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4F8FA"/>
                </a:solidFill>
              </a:rPr>
              <a:t>Runtime boundaries</a:t>
            </a:r>
            <a:endParaRPr lang="en-US" sz="1220" dirty="0"/>
          </a:p>
        </p:txBody>
      </p:sp>
      <p:sp>
        <p:nvSpPr>
          <p:cNvPr id="28" name="Shape 25"/>
          <p:cNvSpPr/>
          <p:nvPr/>
        </p:nvSpPr>
        <p:spPr>
          <a:xfrm>
            <a:off x="987552" y="4535424"/>
            <a:ext cx="2743200" cy="658368"/>
          </a:xfrm>
          <a:prstGeom prst="roundRect">
            <a:avLst>
              <a:gd name="adj" fmla="val 5556"/>
            </a:avLst>
          </a:prstGeom>
          <a:solidFill>
            <a:srgbClr val="101A22"/>
          </a:solidFill>
          <a:ln w="10160">
            <a:solidFill>
              <a:srgbClr val="31455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152144" y="4690872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E08C"/>
                </a:solidFill>
              </a:rPr>
              <a:t>Tools / skills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152144" y="5038344"/>
            <a:ext cx="2414016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4F8FA"/>
                </a:solidFill>
              </a:rPr>
              <a:t>Callable capabilities</a:t>
            </a:r>
            <a:endParaRPr lang="en-US" sz="1220" dirty="0"/>
          </a:p>
        </p:txBody>
      </p:sp>
      <p:sp>
        <p:nvSpPr>
          <p:cNvPr id="31" name="Shape 28"/>
          <p:cNvSpPr/>
          <p:nvPr/>
        </p:nvSpPr>
        <p:spPr>
          <a:xfrm>
            <a:off x="4279392" y="4535424"/>
            <a:ext cx="2743200" cy="658368"/>
          </a:xfrm>
          <a:prstGeom prst="roundRect">
            <a:avLst>
              <a:gd name="adj" fmla="val 5556"/>
            </a:avLst>
          </a:prstGeom>
          <a:solidFill>
            <a:srgbClr val="101A22"/>
          </a:solidFill>
          <a:ln w="10160">
            <a:solidFill>
              <a:srgbClr val="31455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443984" y="4690872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8CFF"/>
                </a:solidFill>
              </a:rPr>
              <a:t>Human gates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443984" y="5038344"/>
            <a:ext cx="2414016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4F8FA"/>
                </a:solidFill>
              </a:rPr>
              <a:t>Review and approval</a:t>
            </a:r>
            <a:endParaRPr lang="en-US" sz="1220" dirty="0"/>
          </a:p>
        </p:txBody>
      </p:sp>
      <p:sp>
        <p:nvSpPr>
          <p:cNvPr id="34" name="Shape 31"/>
          <p:cNvSpPr/>
          <p:nvPr/>
        </p:nvSpPr>
        <p:spPr>
          <a:xfrm>
            <a:off x="7571232" y="4535424"/>
            <a:ext cx="2743200" cy="658368"/>
          </a:xfrm>
          <a:prstGeom prst="roundRect">
            <a:avLst>
              <a:gd name="adj" fmla="val 5556"/>
            </a:avLst>
          </a:prstGeom>
          <a:solidFill>
            <a:srgbClr val="101A22"/>
          </a:solidFill>
          <a:ln w="10160">
            <a:solidFill>
              <a:srgbClr val="31455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735824" y="4690872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</a:rPr>
              <a:t>Packaging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7735824" y="5038344"/>
            <a:ext cx="2414016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4F8FA"/>
                </a:solidFill>
              </a:rPr>
              <a:t>Local or remote run</a:t>
            </a:r>
            <a:endParaRPr lang="en-US" sz="12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6"/>
          </a:solidFill>
          <a:ln w="12700">
            <a:solidFill>
              <a:srgbClr val="0710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09151D"/>
          </a:solidFill>
          <a:ln w="12700">
            <a:solidFill>
              <a:srgbClr val="09151D"/>
            </a:solidFill>
            <a:prstDash val="solid"/>
          </a:ln>
        </p:spPr>
      </p:sp>
      <p:pic>
        <p:nvPicPr>
          <p:cNvPr id="4" name="Image 0" descr="/Users/ivx/Documents/VLC-Marketing/brief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6473952"/>
            <a:ext cx="310896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" y="646480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6BE"/>
                </a:solidFill>
              </a:rPr>
              <a:t>VisualLogic AI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66928" y="411480"/>
            <a:ext cx="6217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8FA"/>
                </a:solidFill>
              </a:rPr>
              <a:t>VL makes the system composable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85216" y="941832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A9B6BE"/>
                </a:solidFill>
              </a:rPr>
              <a:t>Structured layers plus components make parallel AI development practical.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749808" y="1508760"/>
            <a:ext cx="3337560" cy="3154680"/>
          </a:xfrm>
          <a:prstGeom prst="roundRect">
            <a:avLst>
              <a:gd name="adj" fmla="val 1159"/>
            </a:avLst>
          </a:prstGeom>
          <a:solidFill>
            <a:srgbClr val="101A22"/>
          </a:solidFill>
          <a:ln w="10160">
            <a:solidFill>
              <a:srgbClr val="31455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1664208"/>
            <a:ext cx="3008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D6C8"/>
                </a:solidFill>
              </a:rPr>
              <a:t>Structured layers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14400" y="2011680"/>
            <a:ext cx="3008376" cy="2496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4F8FA"/>
                </a:solidFill>
              </a:rPr>
              <a:t>Contracts, services, pages, sections, and themes are decoupled. Once the contract is clear, teams and agents can build in parallel.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4425696" y="1508760"/>
            <a:ext cx="3337560" cy="3154680"/>
          </a:xfrm>
          <a:prstGeom prst="roundRect">
            <a:avLst>
              <a:gd name="adj" fmla="val 1159"/>
            </a:avLst>
          </a:prstGeom>
          <a:solidFill>
            <a:srgbClr val="101A22"/>
          </a:solidFill>
          <a:ln w="10160">
            <a:solidFill>
              <a:srgbClr val="31455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90288" y="1664208"/>
            <a:ext cx="3008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E08C"/>
                </a:solidFill>
              </a:rPr>
              <a:t>Pure components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90288" y="2011680"/>
            <a:ext cx="3008376" cy="2496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4F8FA"/>
                </a:solidFill>
              </a:rPr>
              <a:t>Everything can be composed: UI, flows, tools, skills, services, and theme resources. Components expose methods, properties, and events.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8101584" y="1508760"/>
            <a:ext cx="3337560" cy="3154680"/>
          </a:xfrm>
          <a:prstGeom prst="roundRect">
            <a:avLst>
              <a:gd name="adj" fmla="val 1159"/>
            </a:avLst>
          </a:prstGeom>
          <a:solidFill>
            <a:srgbClr val="101A22"/>
          </a:solidFill>
          <a:ln w="10160">
            <a:solidFill>
              <a:srgbClr val="31455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66176" y="1664208"/>
            <a:ext cx="3008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C65A"/>
                </a:solidFill>
              </a:rPr>
              <a:t>Simple for agents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266176" y="2011680"/>
            <a:ext cx="3008376" cy="2496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4F8FA"/>
                </a:solidFill>
              </a:rPr>
              <a:t>The language is easy for people and AI to learn. Agents can call components directly instead of guessing hidden behavior.</a:t>
            </a:r>
            <a:endParaRPr lang="en-US" sz="1220" dirty="0"/>
          </a:p>
        </p:txBody>
      </p:sp>
      <p:sp>
        <p:nvSpPr>
          <p:cNvPr id="17" name="Text 14"/>
          <p:cNvSpPr/>
          <p:nvPr/>
        </p:nvSpPr>
        <p:spPr>
          <a:xfrm>
            <a:off x="1051560" y="528523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8FA"/>
                </a:solidFill>
              </a:rPr>
              <a:t>More reusable components -&gt; faster delivery -&gt; more reliable enterprise adoption.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6"/>
          </a:solidFill>
          <a:ln w="12700">
            <a:solidFill>
              <a:srgbClr val="0710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09151D"/>
          </a:solidFill>
          <a:ln w="12700">
            <a:solidFill>
              <a:srgbClr val="09151D"/>
            </a:solidFill>
            <a:prstDash val="solid"/>
          </a:ln>
        </p:spPr>
      </p:sp>
      <p:pic>
        <p:nvPicPr>
          <p:cNvPr id="4" name="Image 0" descr="/Users/ivx/Documents/VLC-Marketing/brief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6473952"/>
            <a:ext cx="310896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" y="646480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6BE"/>
                </a:solidFill>
              </a:rPr>
              <a:t>VisualLogic AI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58368" y="73152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8FA"/>
                </a:solidFill>
              </a:rPr>
              <a:t>VisualLogic AI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94944" y="135331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D6C8"/>
                </a:solidFill>
              </a:rPr>
              <a:t>VL + DAG + AI Assistant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49808" y="2148840"/>
            <a:ext cx="3703320" cy="2011680"/>
          </a:xfrm>
          <a:prstGeom prst="roundRect">
            <a:avLst>
              <a:gd name="adj" fmla="val 1818"/>
            </a:avLst>
          </a:prstGeom>
          <a:solidFill>
            <a:srgbClr val="101A22"/>
          </a:solidFill>
          <a:ln w="10160">
            <a:solidFill>
              <a:srgbClr val="31455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2304288"/>
            <a:ext cx="3374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D6C8"/>
                </a:solidFill>
              </a:rPr>
              <a:t>Free local IDE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14400" y="2651760"/>
            <a:ext cx="3374136" cy="1353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4F8FA"/>
                </a:solidFill>
              </a:rPr>
              <a:t>Download VL-Code and build real projects with visual flows, component resources, tools, skills, and AI assistance.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4663440" y="2148840"/>
            <a:ext cx="3337560" cy="2011680"/>
          </a:xfrm>
          <a:prstGeom prst="roundRect">
            <a:avLst>
              <a:gd name="adj" fmla="val 1818"/>
            </a:avLst>
          </a:prstGeom>
          <a:solidFill>
            <a:srgbClr val="101A22"/>
          </a:solidFill>
          <a:ln w="10160">
            <a:solidFill>
              <a:srgbClr val="31455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28032" y="2304288"/>
            <a:ext cx="3008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E08C"/>
                </a:solidFill>
              </a:rPr>
              <a:t>Open resources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28032" y="2651760"/>
            <a:ext cx="3008376" cy="1353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4F8FA"/>
                </a:solidFill>
              </a:rPr>
              <a:t>Design and upload flows, components, tools, and skills. Platform resources from VisualLogic are free to use.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8211312" y="2148840"/>
            <a:ext cx="3337560" cy="2011680"/>
          </a:xfrm>
          <a:prstGeom prst="roundRect">
            <a:avLst>
              <a:gd name="adj" fmla="val 1818"/>
            </a:avLst>
          </a:prstGeom>
          <a:solidFill>
            <a:srgbClr val="101A22"/>
          </a:solidFill>
          <a:ln w="10160">
            <a:solidFill>
              <a:srgbClr val="31455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75904" y="2304288"/>
            <a:ext cx="3008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C65A"/>
                </a:solidFill>
              </a:rPr>
              <a:t>Enterprise landing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375904" y="2651760"/>
            <a:ext cx="3008376" cy="1353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4F8FA"/>
                </a:solidFill>
              </a:rPr>
              <a:t>Designed for complete project generation, not isolated code fragments. Project managers and non-developers can participate directly.</a:t>
            </a:r>
            <a:endParaRPr lang="en-US" sz="1220" dirty="0"/>
          </a:p>
        </p:txBody>
      </p:sp>
      <p:sp>
        <p:nvSpPr>
          <p:cNvPr id="17" name="Text 14"/>
          <p:cNvSpPr/>
          <p:nvPr/>
        </p:nvSpPr>
        <p:spPr>
          <a:xfrm>
            <a:off x="804672" y="51023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8FA"/>
                </a:solidFill>
              </a:rPr>
              <a:t>github.com/VisualLogic-AI/VL-Code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04672" y="553212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A9B6BE"/>
                </a:solidFill>
              </a:rPr>
              <a:t>github.com/VisualLogic-AI/VisualLogic.ai-VL</a:t>
            </a:r>
            <a:endParaRPr lang="en-US" sz="1380" dirty="0"/>
          </a:p>
        </p:txBody>
      </p:sp>
      <p:pic>
        <p:nvPicPr>
          <p:cNvPr id="19" name="Image 1" descr="/Users/ivx/Documents/VLC-Marketing/brief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4919472"/>
            <a:ext cx="914400" cy="6949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VisualLogic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Harness AI with a DAG</dc:title>
  <dc:subject>DAG Harness Engineering for AI</dc:subject>
  <dc:creator>VisualLogic AI</dc:creator>
  <cp:lastModifiedBy>VisualLogic AI</cp:lastModifiedBy>
  <cp:revision>1</cp:revision>
  <dcterms:created xsi:type="dcterms:W3CDTF">2026-06-10T04:13:44Z</dcterms:created>
  <dcterms:modified xsi:type="dcterms:W3CDTF">2026-06-10T04:13:44Z</dcterms:modified>
</cp:coreProperties>
</file>