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5B3A4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566928"/>
            <a:ext cx="1396099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/>
        </p:spPr>
      </p:sp>
      <p:pic>
        <p:nvPicPr>
          <p:cNvPr id="4" name="Image 0" descr="/Users/ivx/Documents/VLC-Marketing/brief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685800"/>
            <a:ext cx="1085203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66928" y="2148840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 PROGRAMMING LANGUAGE  ·  VLC LOCAL IDE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566928" y="260604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language built for AI —</a:t>
            </a:r>
            <a:endParaRPr lang="en-US" sz="3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a DAG that tames it.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566928" y="457200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 redesigns how software is represented for AI. VLC turns the entire build process into a graph you can see, verify, and trust.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566928" y="57150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Open source (MIT)  ·  Local-first  ·  Export anytime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66928" y="6053328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862572" y="2290572"/>
            <a:ext cx="4882896" cy="31683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114300" dist="50800" dir="8100000">
              <a:srgbClr val="0A1526">
                <a:alpha val="18000"/>
              </a:srgbClr>
            </a:outerShdw>
          </a:effectLst>
        </p:spPr>
      </p:sp>
      <p:pic>
        <p:nvPicPr>
          <p:cNvPr id="11" name="Image 1" descr="/Users/ivx/Documents/VLC-Marketing/brief/assets/vlc-map-mode-2026-04-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2331720"/>
            <a:ext cx="4800600" cy="30861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03720" y="5481828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Map mode — an entire VL app as one architecture graph.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78992" y="5669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1078992"/>
            <a:ext cx="6583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can ace a 'point'.</a:t>
            </a:r>
            <a:endParaRPr lang="en-US" sz="32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can't hold the 'line'.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66928" y="2395728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bottleneck is no longer model intelligence. It is how code is represented and how the process is controlled.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12687" y="2240280"/>
            <a:ext cx="5212080" cy="969264"/>
          </a:xfrm>
          <a:prstGeom prst="roundRect">
            <a:avLst>
              <a:gd name="adj" fmla="val 8491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687007" y="2423160"/>
            <a:ext cx="310896" cy="54864"/>
          </a:xfrm>
          <a:prstGeom prst="rect">
            <a:avLst/>
          </a:prstGeom>
          <a:solidFill>
            <a:srgbClr val="15B3A4"/>
          </a:solidFill>
          <a:ln/>
        </p:spPr>
      </p:sp>
      <p:sp>
        <p:nvSpPr>
          <p:cNvPr id="9" name="Text 7"/>
          <p:cNvSpPr/>
          <p:nvPr/>
        </p:nvSpPr>
        <p:spPr>
          <a:xfrm>
            <a:off x="6687007" y="253288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Languages were never built for AI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87007" y="280720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They assume a human author + a compiler. AI is left to guess the hidden structure.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12687" y="3355848"/>
            <a:ext cx="5212080" cy="969264"/>
          </a:xfrm>
          <a:prstGeom prst="roundRect">
            <a:avLst>
              <a:gd name="adj" fmla="val 8491"/>
            </a:avLst>
          </a:prstGeom>
          <a:solidFill>
            <a:srgbClr val="0A1526"/>
          </a:solidFill>
          <a:ln/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687007" y="3538728"/>
            <a:ext cx="310896" cy="54864"/>
          </a:xfrm>
          <a:prstGeom prst="rect">
            <a:avLst/>
          </a:prstGeom>
          <a:solidFill>
            <a:srgbClr val="15B3A4"/>
          </a:solidFill>
          <a:ln/>
        </p:spPr>
      </p:sp>
      <p:sp>
        <p:nvSpPr>
          <p:cNvPr id="13" name="Text 11"/>
          <p:cNvSpPr/>
          <p:nvPr/>
        </p:nvSpPr>
        <p:spPr>
          <a:xfrm>
            <a:off x="6687007" y="3648456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Agents drift off course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687007" y="392277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Point-by-point I/O wanders — you babysit every step, and still miss.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12687" y="4471416"/>
            <a:ext cx="5212080" cy="969264"/>
          </a:xfrm>
          <a:prstGeom prst="roundRect">
            <a:avLst>
              <a:gd name="adj" fmla="val 8491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87007" y="4654296"/>
            <a:ext cx="310896" cy="54864"/>
          </a:xfrm>
          <a:prstGeom prst="rect">
            <a:avLst/>
          </a:prstGeom>
          <a:solidFill>
            <a:srgbClr val="15B3A4"/>
          </a:solidFill>
          <a:ln/>
        </p:spPr>
      </p:sp>
      <p:sp>
        <p:nvSpPr>
          <p:cNvPr id="17" name="Text 15"/>
          <p:cNvSpPr/>
          <p:nvPr/>
        </p:nvSpPr>
        <p:spPr>
          <a:xfrm>
            <a:off x="6687007" y="476402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Expensive, expert-only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87007" y="50383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Tokens burned regenerating the same code — that you still have to read.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5486400"/>
            <a:ext cx="11057839" cy="676656"/>
          </a:xfrm>
          <a:prstGeom prst="roundRect">
            <a:avLst>
              <a:gd name="adj" fmla="val 12162"/>
            </a:avLst>
          </a:prstGeom>
          <a:solidFill>
            <a:srgbClr val="EAF2F8"/>
          </a:solidFill>
          <a:ln w="12700">
            <a:solidFill>
              <a:srgbClr val="D6E6F2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86968" y="5486400"/>
            <a:ext cx="1041775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F4FA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 changes the representation. VLC changes the process.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638251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pPr algn="l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· CODE   —   An AI-native language, tamed by a DAG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595567" y="6382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78992" y="5669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 I · THE LANGUAGE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1078992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 is a language designed for AI —</a:t>
            </a:r>
            <a:endParaRPr lang="en-US" sz="32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 low-code, not a DSL.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66928" y="23774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General-purpose, with no capability ceiling. It works with today's models — even small, cheap, local ones.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246120"/>
            <a:ext cx="344210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59536" y="3557016"/>
            <a:ext cx="384048" cy="64008"/>
          </a:xfrm>
          <a:prstGeom prst="rect">
            <a:avLst/>
          </a:prstGeom>
          <a:solidFill>
            <a:srgbClr val="15B3A4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3739896"/>
            <a:ext cx="289346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AI-native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41248" y="4215384"/>
            <a:ext cx="289346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Language, IDE and AI designed together from day one.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74794" y="3246120"/>
            <a:ext cx="344210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7402" y="3557016"/>
            <a:ext cx="384048" cy="64008"/>
          </a:xfrm>
          <a:prstGeom prst="rect">
            <a:avLst/>
          </a:prstGeom>
          <a:solidFill>
            <a:srgbClr val="15B3A4"/>
          </a:solidFill>
          <a:ln/>
        </p:spPr>
      </p:sp>
      <p:sp>
        <p:nvSpPr>
          <p:cNvPr id="13" name="Text 11"/>
          <p:cNvSpPr/>
          <p:nvPr/>
        </p:nvSpPr>
        <p:spPr>
          <a:xfrm>
            <a:off x="4649114" y="3739896"/>
            <a:ext cx="289346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General-purpose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49114" y="4215384"/>
            <a:ext cx="289346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ceiling — real apps, front to back, not toy flows.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82661" y="3246120"/>
            <a:ext cx="344210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75269" y="3557016"/>
            <a:ext cx="384048" cy="64008"/>
          </a:xfrm>
          <a:prstGeom prst="rect">
            <a:avLst/>
          </a:prstGeom>
          <a:solidFill>
            <a:srgbClr val="15B3A4"/>
          </a:solidFill>
          <a:ln/>
        </p:spPr>
      </p:sp>
      <p:sp>
        <p:nvSpPr>
          <p:cNvPr id="17" name="Text 15"/>
          <p:cNvSpPr/>
          <p:nvPr/>
        </p:nvSpPr>
        <p:spPr>
          <a:xfrm>
            <a:off x="8456981" y="3739896"/>
            <a:ext cx="289346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Stable today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56981" y="4215384"/>
            <a:ext cx="289346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Models already generate VL reliably. No 'wait 5 years'.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5486400"/>
            <a:ext cx="11057839" cy="676656"/>
          </a:xfrm>
          <a:prstGeom prst="roundRect">
            <a:avLst>
              <a:gd name="adj" fmla="val 12162"/>
            </a:avLst>
          </a:prstGeom>
          <a:solidFill>
            <a:srgbClr val="EAF2F8"/>
          </a:solidFill>
          <a:ln w="12700">
            <a:solidFill>
              <a:srgbClr val="D6E6F2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86968" y="5486400"/>
            <a:ext cx="1041775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F4FA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Low-code hides complexity. VL structures it.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638251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pPr algn="l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· CODE   —   An AI-native language, tamed by a DAG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595567" y="6382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78992" y="5669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 I · THE LANGUAGE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1078992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Decoupled on every axis —</a:t>
            </a:r>
            <a:endParaRPr lang="en-US" sz="32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 generation runs in parallel.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66928" y="237744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Front/back · look/structure · build/deploy · data/usage. Each file is small, single-purpose, and standalone.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310128"/>
            <a:ext cx="26060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68096" y="349300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Front / Back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68096" y="382219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.sc + .cp  /  .vs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74136" y="3310128"/>
            <a:ext cx="26060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575304" y="3493008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Look / Structure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75304" y="382219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THEME  /  components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4425696"/>
            <a:ext cx="26060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4608576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 / Deploy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68096" y="49377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  /  target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74136" y="4425696"/>
            <a:ext cx="260604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575304" y="4608576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/ Usage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75304" y="49377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.vdb  /  VirtualTable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49847" y="3310128"/>
            <a:ext cx="5074920" cy="969264"/>
          </a:xfrm>
          <a:prstGeom prst="roundRect">
            <a:avLst>
              <a:gd name="adj" fmla="val 8491"/>
            </a:avLst>
          </a:prstGeom>
          <a:solidFill>
            <a:srgbClr val="0A1526"/>
          </a:solidFill>
          <a:ln/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24167" y="3511296"/>
            <a:ext cx="310896" cy="54864"/>
          </a:xfrm>
          <a:prstGeom prst="rect">
            <a:avLst/>
          </a:prstGeom>
          <a:solidFill>
            <a:srgbClr val="15B3A4"/>
          </a:solidFill>
          <a:ln/>
        </p:spPr>
      </p:sp>
      <p:sp>
        <p:nvSpPr>
          <p:cNvPr id="21" name="Text 19"/>
          <p:cNvSpPr/>
          <p:nvPr/>
        </p:nvSpPr>
        <p:spPr>
          <a:xfrm>
            <a:off x="6824167" y="3621024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High-concurrency generation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24167" y="3931920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Services and front-end modules generate in parallel, not one long file.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549847" y="4480560"/>
            <a:ext cx="5074920" cy="969264"/>
          </a:xfrm>
          <a:prstGeom prst="roundRect">
            <a:avLst>
              <a:gd name="adj" fmla="val 8491"/>
            </a:avLst>
          </a:prstGeom>
          <a:solidFill>
            <a:srgbClr val="0A1526"/>
          </a:solidFill>
          <a:ln/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824167" y="4681728"/>
            <a:ext cx="310896" cy="54864"/>
          </a:xfrm>
          <a:prstGeom prst="rect">
            <a:avLst/>
          </a:prstGeom>
          <a:solidFill>
            <a:srgbClr val="15B3A4"/>
          </a:solidFill>
          <a:ln/>
        </p:spPr>
      </p:sp>
      <p:sp>
        <p:nvSpPr>
          <p:cNvPr id="25" name="Text 23"/>
          <p:cNvSpPr/>
          <p:nvPr/>
        </p:nvSpPr>
        <p:spPr>
          <a:xfrm>
            <a:off x="6824167" y="479145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Automatic assembly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24167" y="5102352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Clean contracts let the factory snap components together.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5486400"/>
            <a:ext cx="11057839" cy="676656"/>
          </a:xfrm>
          <a:prstGeom prst="roundRect">
            <a:avLst>
              <a:gd name="adj" fmla="val 12162"/>
            </a:avLst>
          </a:prstGeom>
          <a:solidFill>
            <a:srgbClr val="EAF2F8"/>
          </a:solidFill>
          <a:ln w="12700">
            <a:solidFill>
              <a:srgbClr val="D6E6F2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86968" y="5486400"/>
            <a:ext cx="1041775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F4FA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Small files · single responsibility → small context, parallel, fewer hallucinations.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638251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pPr algn="l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· CODE   —   An AI-native language, tamed by a DAG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595567" y="6382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78992" y="5669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 I · THE LANGUAGE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1078992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Everything is a component —</a:t>
            </a:r>
            <a:endParaRPr lang="en-US" sz="32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front-end and back-end alike.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66928" y="2377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minimal unit of a VL program. The shape an AI agent reasons about best.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108960"/>
            <a:ext cx="3381146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86968" y="3456432"/>
            <a:ext cx="841248" cy="841248"/>
          </a:xfrm>
          <a:prstGeom prst="ellipse">
            <a:avLst/>
          </a:prstGeom>
          <a:solidFill>
            <a:srgbClr val="EAF2F8"/>
          </a:solidFill>
          <a:ln w="19050">
            <a:solidFill>
              <a:srgbClr val="15B3A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86968" y="3456432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92808" y="3566160"/>
            <a:ext cx="18266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Properties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892808" y="3950208"/>
            <a:ext cx="18266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it holds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05274" y="3108960"/>
            <a:ext cx="3381146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25314" y="3456432"/>
            <a:ext cx="841248" cy="841248"/>
          </a:xfrm>
          <a:prstGeom prst="ellipse">
            <a:avLst/>
          </a:prstGeom>
          <a:solidFill>
            <a:srgbClr val="EAF2F8"/>
          </a:solidFill>
          <a:ln w="19050">
            <a:solidFill>
              <a:srgbClr val="15B3A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5314" y="3456432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731154" y="3566160"/>
            <a:ext cx="18266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Methods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731154" y="3950208"/>
            <a:ext cx="18266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it does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43621" y="3108960"/>
            <a:ext cx="3381146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563661" y="3456432"/>
            <a:ext cx="841248" cy="841248"/>
          </a:xfrm>
          <a:prstGeom prst="ellipse">
            <a:avLst/>
          </a:prstGeom>
          <a:solidFill>
            <a:srgbClr val="EAF2F8"/>
          </a:solidFill>
          <a:ln w="19050">
            <a:solidFill>
              <a:srgbClr val="15B3A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63661" y="3456432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569501" y="3566160"/>
            <a:ext cx="18266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Events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569501" y="3950208"/>
            <a:ext cx="18266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it reacts to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47365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1D — lines of text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47488" y="4919472"/>
            <a:ext cx="1188720" cy="0"/>
          </a:xfrm>
          <a:prstGeom prst="line">
            <a:avLst/>
          </a:prstGeom>
          <a:noFill/>
          <a:ln w="25400">
            <a:solidFill>
              <a:srgbClr val="15B3A4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6327648" y="473659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2D — a graph of components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5486400"/>
            <a:ext cx="11057839" cy="676656"/>
          </a:xfrm>
          <a:prstGeom prst="roundRect">
            <a:avLst>
              <a:gd name="adj" fmla="val 12162"/>
            </a:avLst>
          </a:prstGeom>
          <a:solidFill>
            <a:srgbClr val="EAF2F8"/>
          </a:solidFill>
          <a:ln w="12700">
            <a:solidFill>
              <a:srgbClr val="D6E6F2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86968" y="5486400"/>
            <a:ext cx="1041775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F4FA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program is a composition of components. Structured, decoupled — exactly how an Agent works.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638251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pPr algn="l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· CODE   —   An AI-native language, tamed by a DAG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595567" y="6382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78992" y="5669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 I · COMPONENT FACTORY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1078992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Component Factory:</a:t>
            </a:r>
            <a:endParaRPr lang="en-US" sz="32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16,000+ reusable building blocks.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66928" y="23774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 just UI snippets — installable contracts for real VL projects. The expensive token-compute, banked.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474720"/>
            <a:ext cx="2558720" cy="1371600"/>
          </a:xfrm>
          <a:prstGeom prst="roundRect">
            <a:avLst>
              <a:gd name="adj" fmla="val 6000"/>
            </a:avLst>
          </a:prstGeom>
          <a:solidFill>
            <a:srgbClr val="102747"/>
          </a:solidFill>
          <a:ln w="12700">
            <a:solidFill>
              <a:srgbClr val="26405F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3730752"/>
            <a:ext cx="255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16,000+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66928" y="4407408"/>
            <a:ext cx="255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components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99968" y="3474720"/>
            <a:ext cx="2558720" cy="1371600"/>
          </a:xfrm>
          <a:prstGeom prst="roundRect">
            <a:avLst>
              <a:gd name="adj" fmla="val 6000"/>
            </a:avLst>
          </a:prstGeom>
          <a:solidFill>
            <a:srgbClr val="102747"/>
          </a:solidFill>
          <a:ln w="12700">
            <a:solidFill>
              <a:srgbClr val="26405F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99968" y="3730752"/>
            <a:ext cx="255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P+M+E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3399968" y="4407408"/>
            <a:ext cx="255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interface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33008" y="3474720"/>
            <a:ext cx="2558720" cy="1371600"/>
          </a:xfrm>
          <a:prstGeom prst="roundRect">
            <a:avLst>
              <a:gd name="adj" fmla="val 6000"/>
            </a:avLst>
          </a:prstGeom>
          <a:solidFill>
            <a:srgbClr val="102747"/>
          </a:solidFill>
          <a:ln w="12700">
            <a:solidFill>
              <a:srgbClr val="26405F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33008" y="3730752"/>
            <a:ext cx="255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233008" y="4407408"/>
            <a:ext cx="255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manual glue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66047" y="3474720"/>
            <a:ext cx="2558720" cy="1371600"/>
          </a:xfrm>
          <a:prstGeom prst="roundRect">
            <a:avLst>
              <a:gd name="adj" fmla="val 6000"/>
            </a:avLst>
          </a:prstGeom>
          <a:solidFill>
            <a:srgbClr val="102747"/>
          </a:solidFill>
          <a:ln w="12700">
            <a:solidFill>
              <a:srgbClr val="26405F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066047" y="3730752"/>
            <a:ext cx="255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÷10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9066047" y="4407408"/>
            <a:ext cx="255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tokens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5486400"/>
            <a:ext cx="11057839" cy="676656"/>
          </a:xfrm>
          <a:prstGeom prst="roundRect">
            <a:avLst>
              <a:gd name="adj" fmla="val 12162"/>
            </a:avLst>
          </a:prstGeom>
          <a:solidFill>
            <a:srgbClr val="102747"/>
          </a:solidFill>
          <a:ln w="12700">
            <a:solidFill>
              <a:srgbClr val="26405F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86968" y="5486400"/>
            <a:ext cx="1041775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Expensive generation happens once. Everyone reuses it forever.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12700">
            <a:solidFill>
              <a:srgbClr val="2640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638251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pPr algn="l"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· CODE   —   An AI-native language, tamed by a DAG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595567" y="6382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78992" y="5669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 II · THE IDE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1078992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8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VLC: a local IDE built for VL + AI.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66928" y="2011680"/>
            <a:ext cx="5577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As familiar as VS Code — and designed end-to-end for the VL language and AI. Local-first: your machine, your code, your models.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611880"/>
            <a:ext cx="557784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86384" y="3813048"/>
            <a:ext cx="146304" cy="146304"/>
          </a:xfrm>
          <a:prstGeom prst="ellipse">
            <a:avLst/>
          </a:prstGeom>
          <a:solidFill>
            <a:srgbClr val="15B3A4"/>
          </a:solidFill>
          <a:ln/>
        </p:spPr>
      </p:sp>
      <p:sp>
        <p:nvSpPr>
          <p:cNvPr id="9" name="Text 7"/>
          <p:cNvSpPr/>
          <p:nvPr/>
        </p:nvSpPr>
        <p:spPr>
          <a:xfrm>
            <a:off x="1078992" y="36118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Local read/write + AI — the smoothest path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4233672"/>
            <a:ext cx="557784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86384" y="4434840"/>
            <a:ext cx="146304" cy="146304"/>
          </a:xfrm>
          <a:prstGeom prst="ellipse">
            <a:avLst/>
          </a:prstGeom>
          <a:solidFill>
            <a:srgbClr val="15B3A4"/>
          </a:solidFill>
          <a:ln/>
        </p:spPr>
      </p:sp>
      <p:sp>
        <p:nvSpPr>
          <p:cNvPr id="12" name="Text 10"/>
          <p:cNvSpPr/>
          <p:nvPr/>
        </p:nvSpPr>
        <p:spPr>
          <a:xfrm>
            <a:off x="1078992" y="423367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Cloud optional, pay-as-you-go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855464"/>
            <a:ext cx="5577840" cy="5486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86384" y="5056632"/>
            <a:ext cx="146304" cy="146304"/>
          </a:xfrm>
          <a:prstGeom prst="ellipse">
            <a:avLst/>
          </a:prstGeom>
          <a:solidFill>
            <a:srgbClr val="15B3A4"/>
          </a:solidFill>
          <a:ln/>
        </p:spPr>
      </p:sp>
      <p:sp>
        <p:nvSpPr>
          <p:cNvPr id="15" name="Text 13"/>
          <p:cNvSpPr/>
          <p:nvPr/>
        </p:nvSpPr>
        <p:spPr>
          <a:xfrm>
            <a:off x="1078992" y="4855464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Zero lock-in, export anytime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42532" y="1467612"/>
            <a:ext cx="5202936" cy="337413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114300" dist="50800" dir="8100000">
              <a:srgbClr val="0A1526">
                <a:alpha val="18000"/>
              </a:srgbClr>
            </a:outerShdw>
          </a:effectLst>
        </p:spPr>
      </p:sp>
      <p:pic>
        <p:nvPicPr>
          <p:cNvPr id="17" name="Image 0" descr="/Users/ivx/Documents/VLC-Marketing/brief/assets/vlc-code-mode-2026-04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508760"/>
            <a:ext cx="5120640" cy="329184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6583680" y="48646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Code mode — VL and generated source, side by side.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566928" y="5486400"/>
            <a:ext cx="11057839" cy="676656"/>
          </a:xfrm>
          <a:prstGeom prst="roundRect">
            <a:avLst>
              <a:gd name="adj" fmla="val 12162"/>
            </a:avLst>
          </a:prstGeom>
          <a:solidFill>
            <a:srgbClr val="EAF2F8"/>
          </a:solidFill>
          <a:ln w="12700">
            <a:solidFill>
              <a:srgbClr val="D6E6F2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886968" y="5486400"/>
            <a:ext cx="1041775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F4FA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Local-first. Cloud optional. The whole stack on your machine.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66928" y="638251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pPr algn="l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· CODE   —   An AI-native language, tamed by a DAG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595567" y="6382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78992" y="5669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 II · THE IDE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1078992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See everything:</a:t>
            </a:r>
            <a:endParaRPr lang="en-US" sz="32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logic, structure, and process.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66928" y="23317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internal detail of a VL app is projected as a picture — and code ↔ graph stays 1:1, both directions.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25780" y="3067812"/>
            <a:ext cx="3538728" cy="2020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114300" dist="50800" dir="8100000">
              <a:srgbClr val="0A1526">
                <a:alpha val="18000"/>
              </a:srgbClr>
            </a:outerShdw>
          </a:effectLst>
        </p:spPr>
      </p:sp>
      <p:pic>
        <p:nvPicPr>
          <p:cNvPr id="8" name="Image 0" descr="/Users/ivx/Documents/VLC-Marketing/brief/assets/vlc-logic-panel-2026-04-0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3108960"/>
            <a:ext cx="3456432" cy="193852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66928" y="5120640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Event Panel — internal logic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326484" y="3067812"/>
            <a:ext cx="3538728" cy="2020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114300" dist="50800" dir="8100000">
              <a:srgbClr val="0A1526">
                <a:alpha val="18000"/>
              </a:srgbClr>
            </a:outerShdw>
          </a:effectLst>
        </p:spPr>
      </p:sp>
      <p:pic>
        <p:nvPicPr>
          <p:cNvPr id="11" name="Image 1" descr="/Users/ivx/Documents/VLC-Marketing/brief/assets/vlc-map-mode-2026-04-14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367632" y="3108960"/>
            <a:ext cx="3456432" cy="193852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367632" y="5120640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Map — layered call graph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8127187" y="3067812"/>
            <a:ext cx="3538728" cy="2020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114300" dist="50800" dir="8100000">
              <a:srgbClr val="0A1526">
                <a:alpha val="18000"/>
              </a:srgbClr>
            </a:outerShdw>
          </a:effectLst>
        </p:spPr>
      </p:sp>
      <p:pic>
        <p:nvPicPr>
          <p:cNvPr id="14" name="Image 2" descr="/Users/ivx/Documents/VLC-Marketing/brief/assets/vlc-flow-mode-2026-04-14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68335" y="3108960"/>
            <a:ext cx="3456432" cy="19385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168335" y="5120640"/>
            <a:ext cx="3456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DAG — the generation process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566928" y="5486400"/>
            <a:ext cx="11057839" cy="676656"/>
          </a:xfrm>
          <a:prstGeom prst="roundRect">
            <a:avLst>
              <a:gd name="adj" fmla="val 12162"/>
            </a:avLst>
          </a:prstGeom>
          <a:solidFill>
            <a:srgbClr val="EAF2F8"/>
          </a:solidFill>
          <a:ln w="12700">
            <a:solidFill>
              <a:srgbClr val="D6E6F2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886968" y="5486400"/>
            <a:ext cx="1041775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F4FA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 reason in pictures. The IDE is a projection of the language.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566928" y="638251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pPr algn="l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· CODE   —   An AI-native language, tamed by a DAG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6595567" y="6382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78992" y="5669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 II · DAG CORE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1078992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DAG is the core of VLC —</a:t>
            </a:r>
            <a:endParaRPr lang="en-US" sz="32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and the tool that tames AI.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66928" y="239572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agent works around the DAG. Creativity lives inside the nodes; determinism lives in the edges.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657600"/>
            <a:ext cx="1572768" cy="868680"/>
          </a:xfrm>
          <a:prstGeom prst="roundRect">
            <a:avLst>
              <a:gd name="adj" fmla="val 8421"/>
            </a:avLst>
          </a:prstGeom>
          <a:solidFill>
            <a:srgbClr val="102747"/>
          </a:solidFill>
          <a:ln w="12700">
            <a:solidFill>
              <a:srgbClr val="26405F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3657600"/>
            <a:ext cx="15727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256099" y="4018788"/>
            <a:ext cx="146304" cy="146304"/>
          </a:xfrm>
          <a:prstGeom prst="rtTriangle">
            <a:avLst/>
          </a:prstGeom>
          <a:solidFill>
            <a:srgbClr val="15B3A4"/>
          </a:solidFill>
          <a:ln/>
        </p:spPr>
      </p:sp>
      <p:sp>
        <p:nvSpPr>
          <p:cNvPr id="10" name="Shape 8"/>
          <p:cNvSpPr/>
          <p:nvPr/>
        </p:nvSpPr>
        <p:spPr>
          <a:xfrm>
            <a:off x="2463942" y="3657600"/>
            <a:ext cx="1572768" cy="868680"/>
          </a:xfrm>
          <a:prstGeom prst="roundRect">
            <a:avLst>
              <a:gd name="adj" fmla="val 8421"/>
            </a:avLst>
          </a:prstGeom>
          <a:solidFill>
            <a:srgbClr val="15B3A4"/>
          </a:solidFill>
          <a:ln w="12700">
            <a:solidFill>
              <a:srgbClr val="26405F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463942" y="3657600"/>
            <a:ext cx="15727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Generate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53113" y="4018788"/>
            <a:ext cx="146304" cy="146304"/>
          </a:xfrm>
          <a:prstGeom prst="rtTriangle">
            <a:avLst/>
          </a:prstGeom>
          <a:solidFill>
            <a:srgbClr val="15B3A4"/>
          </a:solidFill>
          <a:ln/>
        </p:spPr>
      </p:sp>
      <p:sp>
        <p:nvSpPr>
          <p:cNvPr id="13" name="Shape 11"/>
          <p:cNvSpPr/>
          <p:nvPr/>
        </p:nvSpPr>
        <p:spPr>
          <a:xfrm>
            <a:off x="4360956" y="3657600"/>
            <a:ext cx="1572768" cy="868680"/>
          </a:xfrm>
          <a:prstGeom prst="roundRect">
            <a:avLst>
              <a:gd name="adj" fmla="val 8421"/>
            </a:avLst>
          </a:prstGeom>
          <a:solidFill>
            <a:srgbClr val="102747"/>
          </a:solidFill>
          <a:ln w="12700">
            <a:solidFill>
              <a:srgbClr val="26405F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360956" y="3657600"/>
            <a:ext cx="15727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Search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50128" y="4018788"/>
            <a:ext cx="146304" cy="146304"/>
          </a:xfrm>
          <a:prstGeom prst="rtTriangle">
            <a:avLst/>
          </a:prstGeom>
          <a:solidFill>
            <a:srgbClr val="15B3A4"/>
          </a:solidFill>
          <a:ln/>
        </p:spPr>
      </p:sp>
      <p:sp>
        <p:nvSpPr>
          <p:cNvPr id="16" name="Shape 14"/>
          <p:cNvSpPr/>
          <p:nvPr/>
        </p:nvSpPr>
        <p:spPr>
          <a:xfrm>
            <a:off x="6257971" y="3657600"/>
            <a:ext cx="1572768" cy="868680"/>
          </a:xfrm>
          <a:prstGeom prst="roundRect">
            <a:avLst>
              <a:gd name="adj" fmla="val 8421"/>
            </a:avLst>
          </a:prstGeom>
          <a:solidFill>
            <a:srgbClr val="102747"/>
          </a:solidFill>
          <a:ln w="12700">
            <a:solidFill>
              <a:srgbClr val="26405F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57971" y="3657600"/>
            <a:ext cx="15727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Assemble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47142" y="4018788"/>
            <a:ext cx="146304" cy="146304"/>
          </a:xfrm>
          <a:prstGeom prst="rtTriangle">
            <a:avLst/>
          </a:prstGeom>
          <a:solidFill>
            <a:srgbClr val="15B3A4"/>
          </a:solidFill>
          <a:ln/>
        </p:spPr>
      </p:sp>
      <p:sp>
        <p:nvSpPr>
          <p:cNvPr id="19" name="Shape 17"/>
          <p:cNvSpPr/>
          <p:nvPr/>
        </p:nvSpPr>
        <p:spPr>
          <a:xfrm>
            <a:off x="8154985" y="3657600"/>
            <a:ext cx="1572768" cy="868680"/>
          </a:xfrm>
          <a:prstGeom prst="roundRect">
            <a:avLst>
              <a:gd name="adj" fmla="val 8421"/>
            </a:avLst>
          </a:prstGeom>
          <a:solidFill>
            <a:srgbClr val="102747"/>
          </a:solidFill>
          <a:ln w="12700">
            <a:solidFill>
              <a:srgbClr val="26405F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154985" y="3657600"/>
            <a:ext cx="15727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Verify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844156" y="4018788"/>
            <a:ext cx="146304" cy="146304"/>
          </a:xfrm>
          <a:prstGeom prst="rtTriangle">
            <a:avLst/>
          </a:prstGeom>
          <a:solidFill>
            <a:srgbClr val="15B3A4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51999" y="3657600"/>
            <a:ext cx="1572768" cy="868680"/>
          </a:xfrm>
          <a:prstGeom prst="roundRect">
            <a:avLst>
              <a:gd name="adj" fmla="val 8421"/>
            </a:avLst>
          </a:prstGeom>
          <a:solidFill>
            <a:srgbClr val="102747"/>
          </a:solidFill>
          <a:ln w="12700">
            <a:solidFill>
              <a:srgbClr val="26405F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10051999" y="3657600"/>
            <a:ext cx="15727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Ship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66928" y="4800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Inside nodes = creativity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595567" y="48006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i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Between edges = determinism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486400"/>
            <a:ext cx="11057839" cy="676656"/>
          </a:xfrm>
          <a:prstGeom prst="roundRect">
            <a:avLst>
              <a:gd name="adj" fmla="val 12162"/>
            </a:avLst>
          </a:prstGeom>
          <a:solidFill>
            <a:srgbClr val="102747"/>
          </a:solidFill>
          <a:ln w="12700">
            <a:solidFill>
              <a:srgbClr val="26405F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86968" y="5486400"/>
            <a:ext cx="1041775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stays powerful — the process stays controllable.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12700">
            <a:solidFill>
              <a:srgbClr val="2640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638251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pPr algn="l"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· CODE   —   An AI-native language, tamed by a DAG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595567" y="6382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78992" y="5669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DAG WINS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1078992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DAG vs. today's agents.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66928" y="192024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Most agents are either too complex (you must code them) or a single I/O point. The DAG makes the whole agent process visible and programmable.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2697480"/>
            <a:ext cx="5074920" cy="475488"/>
          </a:xfrm>
          <a:prstGeom prst="roundRect">
            <a:avLst>
              <a:gd name="adj" fmla="val 13462"/>
            </a:avLst>
          </a:prstGeom>
          <a:solidFill>
            <a:srgbClr val="C0455B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2697480"/>
            <a:ext cx="4526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Today's agents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3282696"/>
            <a:ext cx="5074920" cy="475488"/>
          </a:xfrm>
          <a:prstGeom prst="roundRect">
            <a:avLst>
              <a:gd name="adj" fmla="val 17308"/>
            </a:avLst>
          </a:prstGeom>
          <a:solidFill>
            <a:srgbClr val="FBEEF1"/>
          </a:solidFill>
          <a:ln w="12700">
            <a:solidFill>
              <a:srgbClr val="EBC9D2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68096" y="3282696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455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✕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70432" y="3282696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Too complex to wire — or just a single I/O point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849624"/>
            <a:ext cx="5074920" cy="475488"/>
          </a:xfrm>
          <a:prstGeom prst="roundRect">
            <a:avLst>
              <a:gd name="adj" fmla="val 17308"/>
            </a:avLst>
          </a:prstGeom>
          <a:solidFill>
            <a:srgbClr val="FBEEF1"/>
          </a:solidFill>
          <a:ln w="12700">
            <a:solidFill>
              <a:srgbClr val="EBC9D2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68096" y="3849624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455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✕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70432" y="3849624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black box that drifts off course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4416552"/>
            <a:ext cx="5074920" cy="475488"/>
          </a:xfrm>
          <a:prstGeom prst="roundRect">
            <a:avLst>
              <a:gd name="adj" fmla="val 17308"/>
            </a:avLst>
          </a:prstGeom>
          <a:solidFill>
            <a:srgbClr val="FBEEF1"/>
          </a:solidFill>
          <a:ln w="12700">
            <a:solidFill>
              <a:srgbClr val="EBC9D2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68096" y="4416552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455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70432" y="441655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"Looks right" — hard to verify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983480"/>
            <a:ext cx="5074920" cy="475488"/>
          </a:xfrm>
          <a:prstGeom prst="roundRect">
            <a:avLst>
              <a:gd name="adj" fmla="val 17308"/>
            </a:avLst>
          </a:prstGeom>
          <a:solidFill>
            <a:srgbClr val="FBEEF1"/>
          </a:solidFill>
          <a:ln w="12700">
            <a:solidFill>
              <a:srgbClr val="EBC9D2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68096" y="4983480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455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✕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70432" y="498348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Output you can't predict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549847" y="2697480"/>
            <a:ext cx="5074920" cy="475488"/>
          </a:xfrm>
          <a:prstGeom prst="roundRect">
            <a:avLst>
              <a:gd name="adj" fmla="val 13462"/>
            </a:avLst>
          </a:prstGeom>
          <a:solidFill>
            <a:srgbClr val="0E9F91"/>
          </a:solidFill>
          <a:ln/>
        </p:spPr>
      </p:sp>
      <p:sp>
        <p:nvSpPr>
          <p:cNvPr id="22" name="Text 20"/>
          <p:cNvSpPr/>
          <p:nvPr/>
        </p:nvSpPr>
        <p:spPr>
          <a:xfrm>
            <a:off x="6824167" y="2697480"/>
            <a:ext cx="4526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VLC's DAG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549847" y="3282696"/>
            <a:ext cx="5074920" cy="475488"/>
          </a:xfrm>
          <a:prstGeom prst="roundRect">
            <a:avLst>
              <a:gd name="adj" fmla="val 17308"/>
            </a:avLst>
          </a:prstGeom>
          <a:solidFill>
            <a:srgbClr val="EAF7F4"/>
          </a:solidFill>
          <a:ln w="12700">
            <a:solidFill>
              <a:srgbClr val="BFE6DF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751015" y="3282696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153351" y="3282696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Visual + programmable orchestration, zero coding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549847" y="3849624"/>
            <a:ext cx="5074920" cy="475488"/>
          </a:xfrm>
          <a:prstGeom prst="roundRect">
            <a:avLst>
              <a:gd name="adj" fmla="val 17308"/>
            </a:avLst>
          </a:prstGeom>
          <a:solidFill>
            <a:srgbClr val="EAF7F4"/>
          </a:solidFill>
          <a:ln w="12700">
            <a:solidFill>
              <a:srgbClr val="BFE6DF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751015" y="3849624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153351" y="3849624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Always in bounds — fully controllable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549847" y="4416552"/>
            <a:ext cx="5074920" cy="475488"/>
          </a:xfrm>
          <a:prstGeom prst="roundRect">
            <a:avLst>
              <a:gd name="adj" fmla="val 17308"/>
            </a:avLst>
          </a:prstGeom>
          <a:solidFill>
            <a:srgbClr val="EAF7F4"/>
          </a:solidFill>
          <a:ln w="12700">
            <a:solidFill>
              <a:srgbClr val="BFE6DF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751015" y="4416552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153351" y="4416552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node can lint / compile / preview / test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549847" y="4983480"/>
            <a:ext cx="5074920" cy="475488"/>
          </a:xfrm>
          <a:prstGeom prst="roundRect">
            <a:avLst>
              <a:gd name="adj" fmla="val 17308"/>
            </a:avLst>
          </a:prstGeom>
          <a:solidFill>
            <a:srgbClr val="EAF7F4"/>
          </a:solidFill>
          <a:ln w="12700">
            <a:solidFill>
              <a:srgbClr val="BFE6DF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751015" y="4983480"/>
            <a:ext cx="365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✓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153351" y="4983480"/>
            <a:ext cx="4297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Produces exactly what the designer intended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66928" y="5486400"/>
            <a:ext cx="11057839" cy="676656"/>
          </a:xfrm>
          <a:prstGeom prst="roundRect">
            <a:avLst>
              <a:gd name="adj" fmla="val 12162"/>
            </a:avLst>
          </a:prstGeom>
          <a:solidFill>
            <a:srgbClr val="EAF2F8"/>
          </a:solidFill>
          <a:ln w="12700">
            <a:solidFill>
              <a:srgbClr val="D6E6F2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86968" y="5486400"/>
            <a:ext cx="1041775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F4FA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All of AI's power, kept inside the lines — technically ahead of point-wise agents.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638251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pPr algn="l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· CODE   —   An AI-native language, tamed by a DAG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595567" y="6382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78992" y="5669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 II · THE IDE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1078992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9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 software with</a:t>
            </a:r>
            <a:endParaRPr lang="en-US" sz="29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29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zero programming knowledge.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566928" y="2377440"/>
            <a:ext cx="5577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Say what you want, watch the DAG run, refine visually. Code is still there — but it's no longer the only doorway in.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93192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413308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Intent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66928" y="44805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say what to build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176272" y="4389120"/>
            <a:ext cx="301752" cy="0"/>
          </a:xfrm>
          <a:prstGeom prst="line">
            <a:avLst/>
          </a:prstGeom>
          <a:noFill/>
          <a:ln w="25400">
            <a:solidFill>
              <a:srgbClr val="15B3A4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532888" y="393192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15B3A4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532888" y="413308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DAG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2532888" y="44805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F5F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watch the process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42232" y="4389120"/>
            <a:ext cx="301752" cy="0"/>
          </a:xfrm>
          <a:prstGeom prst="line">
            <a:avLst/>
          </a:prstGeom>
          <a:noFill/>
          <a:ln w="25400">
            <a:solidFill>
              <a:srgbClr val="15B3A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498848" y="3931920"/>
            <a:ext cx="15544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498848" y="413308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Visual edit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98848" y="44805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refine the structure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542532" y="1513332"/>
            <a:ext cx="5202936" cy="3595293"/>
          </a:xfrm>
          <a:prstGeom prst="rect">
            <a:avLst/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114300" dist="50800" dir="8100000">
              <a:srgbClr val="0A1526">
                <a:alpha val="18000"/>
              </a:srgbClr>
            </a:outerShdw>
          </a:effectLst>
        </p:spPr>
      </p:sp>
      <p:pic>
        <p:nvPicPr>
          <p:cNvPr id="19" name="Image 0" descr="/Users/ivx/Documents/VLC-Marketing/brief/assets/vlc-visual-panel-2026-04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554480"/>
            <a:ext cx="5120640" cy="3512997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583680" y="5131485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Visual Panel — inspect and adjust the app as structure.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66928" y="5486400"/>
            <a:ext cx="11057839" cy="676656"/>
          </a:xfrm>
          <a:prstGeom prst="roundRect">
            <a:avLst>
              <a:gd name="adj" fmla="val 12162"/>
            </a:avLst>
          </a:prstGeom>
          <a:solidFill>
            <a:srgbClr val="EAF2F8"/>
          </a:solidFill>
          <a:ln w="12700">
            <a:solidFill>
              <a:srgbClr val="D6E6F2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886968" y="5486400"/>
            <a:ext cx="1041775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F4FA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the first time, the door to programming opens to everyone.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638251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pPr algn="l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· CODE   —   An AI-native language, tamed by a DAG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6595567" y="6382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78992" y="5669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 II · THE IDE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1078992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Search-and-assemble nodes:</a:t>
            </a:r>
            <a:endParaRPr lang="en-US" sz="32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store the compute, don't burn it.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66928" y="237744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Drop a 'search components' node into the DAG. Every match is fetched, the AI confirms, and they snap together automatically.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1683868" y="3456432"/>
            <a:ext cx="18288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683868" y="3456432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Search components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718408" y="3817620"/>
            <a:ext cx="146304" cy="146304"/>
          </a:xfrm>
          <a:prstGeom prst="rtTriangle">
            <a:avLst/>
          </a:prstGeom>
          <a:solidFill>
            <a:srgbClr val="15B3A4"/>
          </a:solidFill>
          <a:ln/>
        </p:spPr>
      </p:sp>
      <p:sp>
        <p:nvSpPr>
          <p:cNvPr id="10" name="Shape 8"/>
          <p:cNvSpPr/>
          <p:nvPr/>
        </p:nvSpPr>
        <p:spPr>
          <a:xfrm>
            <a:off x="4015588" y="3456432"/>
            <a:ext cx="18288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015588" y="3456432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AI confirms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50128" y="3817620"/>
            <a:ext cx="146304" cy="146304"/>
          </a:xfrm>
          <a:prstGeom prst="rtTriangle">
            <a:avLst/>
          </a:prstGeom>
          <a:solidFill>
            <a:srgbClr val="15B3A4"/>
          </a:solidFill>
          <a:ln/>
        </p:spPr>
      </p:sp>
      <p:sp>
        <p:nvSpPr>
          <p:cNvPr id="13" name="Shape 11"/>
          <p:cNvSpPr/>
          <p:nvPr/>
        </p:nvSpPr>
        <p:spPr>
          <a:xfrm>
            <a:off x="6347308" y="3456432"/>
            <a:ext cx="1828800" cy="868680"/>
          </a:xfrm>
          <a:prstGeom prst="roundRect">
            <a:avLst>
              <a:gd name="adj" fmla="val 8421"/>
            </a:avLst>
          </a:prstGeom>
          <a:solidFill>
            <a:srgbClr val="15B3A4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347308" y="3456432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Auto-assemble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381848" y="3817620"/>
            <a:ext cx="146304" cy="146304"/>
          </a:xfrm>
          <a:prstGeom prst="rtTriangle">
            <a:avLst/>
          </a:prstGeom>
          <a:solidFill>
            <a:srgbClr val="15B3A4"/>
          </a:solidFill>
          <a:ln/>
        </p:spPr>
      </p:sp>
      <p:sp>
        <p:nvSpPr>
          <p:cNvPr id="16" name="Shape 14"/>
          <p:cNvSpPr/>
          <p:nvPr/>
        </p:nvSpPr>
        <p:spPr>
          <a:xfrm>
            <a:off x="8679028" y="3456432"/>
            <a:ext cx="182880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79028" y="3456432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Compile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901288" y="4434840"/>
            <a:ext cx="4389120" cy="822960"/>
          </a:xfrm>
          <a:prstGeom prst="roundRect">
            <a:avLst>
              <a:gd name="adj" fmla="val 10000"/>
            </a:avLst>
          </a:prstGeom>
          <a:solidFill>
            <a:srgbClr val="0A1526"/>
          </a:solidFill>
          <a:ln/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901288" y="44988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÷10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3901288" y="495604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tokens vs. regenerating from scratch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5486400"/>
            <a:ext cx="11057839" cy="676656"/>
          </a:xfrm>
          <a:prstGeom prst="roundRect">
            <a:avLst>
              <a:gd name="adj" fmla="val 12162"/>
            </a:avLst>
          </a:prstGeom>
          <a:solidFill>
            <a:srgbClr val="EAF2F8"/>
          </a:solidFill>
          <a:ln w="12700">
            <a:solidFill>
              <a:srgbClr val="D6E6F2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86968" y="5486400"/>
            <a:ext cx="1041775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F4FA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Intelligence is banked in components, in the cloud — loaded on demand, not re-billed.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638251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pPr algn="l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· CODE   —   An AI-native language, tamed by a DAG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595567" y="6382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78992" y="5669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 III · OPEN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1078992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Nothing is a black box —</a:t>
            </a:r>
            <a:endParaRPr lang="en-US" sz="32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bring your own.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66928" y="2377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resource layer is open for you to extend. Upload it, version it, reuse it across projects.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246120"/>
            <a:ext cx="199211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61232" y="3538728"/>
            <a:ext cx="603504" cy="603504"/>
          </a:xfrm>
          <a:prstGeom prst="ellipse">
            <a:avLst/>
          </a:prstGeom>
          <a:solidFill>
            <a:srgbClr val="EAF2F8"/>
          </a:solidFill>
          <a:ln w="19050">
            <a:solidFill>
              <a:srgbClr val="15B3A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61232" y="35387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↑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58368" y="4270248"/>
            <a:ext cx="180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Workflows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8368" y="4581144"/>
            <a:ext cx="1809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your own DAGs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833360" y="3246120"/>
            <a:ext cx="199211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527664" y="3538728"/>
            <a:ext cx="603504" cy="603504"/>
          </a:xfrm>
          <a:prstGeom prst="ellipse">
            <a:avLst/>
          </a:prstGeom>
          <a:solidFill>
            <a:srgbClr val="EAF2F8"/>
          </a:solidFill>
          <a:ln w="19050">
            <a:solidFill>
              <a:srgbClr val="15B3A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27664" y="35387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↑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924800" y="4270248"/>
            <a:ext cx="180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Docs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924800" y="4581144"/>
            <a:ext cx="1809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specs &amp; context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99792" y="3246120"/>
            <a:ext cx="199211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794096" y="3538728"/>
            <a:ext cx="603504" cy="603504"/>
          </a:xfrm>
          <a:prstGeom prst="ellipse">
            <a:avLst/>
          </a:prstGeom>
          <a:solidFill>
            <a:srgbClr val="EAF2F8"/>
          </a:solidFill>
          <a:ln w="19050">
            <a:solidFill>
              <a:srgbClr val="15B3A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94096" y="35387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↑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191232" y="4270248"/>
            <a:ext cx="180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Tools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191232" y="4581144"/>
            <a:ext cx="1809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custom actions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366224" y="3246120"/>
            <a:ext cx="199211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60527" y="3538728"/>
            <a:ext cx="603504" cy="603504"/>
          </a:xfrm>
          <a:prstGeom prst="ellipse">
            <a:avLst/>
          </a:prstGeom>
          <a:solidFill>
            <a:srgbClr val="EAF2F8"/>
          </a:solidFill>
          <a:ln w="19050">
            <a:solidFill>
              <a:srgbClr val="15B3A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60527" y="35387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↑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457664" y="4270248"/>
            <a:ext cx="180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Components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57664" y="4581144"/>
            <a:ext cx="1809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into the Factory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632655" y="3246120"/>
            <a:ext cx="1992112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0326959" y="3538728"/>
            <a:ext cx="603504" cy="603504"/>
          </a:xfrm>
          <a:prstGeom prst="ellipse">
            <a:avLst/>
          </a:prstGeom>
          <a:solidFill>
            <a:srgbClr val="EAF2F8"/>
          </a:solidFill>
          <a:ln w="19050">
            <a:solidFill>
              <a:srgbClr val="15B3A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326959" y="353872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↑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9724095" y="4270248"/>
            <a:ext cx="1809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Skills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724095" y="4581144"/>
            <a:ext cx="1809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agent capabilities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5486400"/>
            <a:ext cx="11057839" cy="676656"/>
          </a:xfrm>
          <a:prstGeom prst="roundRect">
            <a:avLst>
              <a:gd name="adj" fmla="val 12162"/>
            </a:avLst>
          </a:prstGeom>
          <a:solidFill>
            <a:srgbClr val="EAF2F8"/>
          </a:solidFill>
          <a:ln w="12700">
            <a:solidFill>
              <a:srgbClr val="D6E6F2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86968" y="5486400"/>
            <a:ext cx="1041775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F4FA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Your workflows, your components, your tools — all uploadable, all yours.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6928" y="638251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pPr algn="l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· CODE   —   An AI-native language, tamed by a DAG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595567" y="6382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78992" y="56692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50" kern="0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 III · OPEN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1078992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Export, self-host, open source —</a:t>
            </a:r>
            <a:endParaRPr lang="en-US" sz="32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32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zero lock-in.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66928" y="2377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you build is yours, with no limits on where it runs and no walls around the core technology.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200400"/>
            <a:ext cx="344210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59536" y="3511296"/>
            <a:ext cx="384048" cy="64008"/>
          </a:xfrm>
          <a:prstGeom prst="rect">
            <a:avLst/>
          </a:prstGeom>
          <a:solidFill>
            <a:srgbClr val="15B3A4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3694176"/>
            <a:ext cx="289346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Export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41248" y="4169664"/>
            <a:ext cx="28934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Apps export to React + Node source — run them anywhere.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74794" y="3200400"/>
            <a:ext cx="3442106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7402" y="3511296"/>
            <a:ext cx="384048" cy="64008"/>
          </a:xfrm>
          <a:prstGeom prst="rect">
            <a:avLst/>
          </a:prstGeom>
          <a:solidFill>
            <a:srgbClr val="15B3A4"/>
          </a:solidFill>
          <a:ln/>
        </p:spPr>
      </p:sp>
      <p:sp>
        <p:nvSpPr>
          <p:cNvPr id="13" name="Text 11"/>
          <p:cNvSpPr/>
          <p:nvPr/>
        </p:nvSpPr>
        <p:spPr>
          <a:xfrm>
            <a:off x="4649114" y="3694176"/>
            <a:ext cx="289346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Self-host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49114" y="4169664"/>
            <a:ext cx="28934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3A5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Private deployment with no restrictions whatsoever.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82661" y="3200400"/>
            <a:ext cx="3442106" cy="1783080"/>
          </a:xfrm>
          <a:prstGeom prst="roundRect">
            <a:avLst>
              <a:gd name="adj" fmla="val 4615"/>
            </a:avLst>
          </a:prstGeom>
          <a:solidFill>
            <a:srgbClr val="0A1526"/>
          </a:solidFill>
          <a:ln/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75269" y="3511296"/>
            <a:ext cx="384048" cy="64008"/>
          </a:xfrm>
          <a:prstGeom prst="rect">
            <a:avLst/>
          </a:prstGeom>
          <a:solidFill>
            <a:srgbClr val="15B3A4"/>
          </a:solidFill>
          <a:ln/>
        </p:spPr>
      </p:sp>
      <p:sp>
        <p:nvSpPr>
          <p:cNvPr id="17" name="Text 15"/>
          <p:cNvSpPr/>
          <p:nvPr/>
        </p:nvSpPr>
        <p:spPr>
          <a:xfrm>
            <a:off x="8456981" y="3694176"/>
            <a:ext cx="289346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Open source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56981" y="4169664"/>
            <a:ext cx="28934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 syntax and core docs are open. Every component is open.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5486400"/>
            <a:ext cx="11057839" cy="676656"/>
          </a:xfrm>
          <a:prstGeom prst="roundRect">
            <a:avLst>
              <a:gd name="adj" fmla="val 12162"/>
            </a:avLst>
          </a:prstGeom>
          <a:solidFill>
            <a:srgbClr val="EAF2F8"/>
          </a:solidFill>
          <a:ln w="12700">
            <a:solidFill>
              <a:srgbClr val="D6E6F2"/>
            </a:solidFill>
            <a:prstDash val="solid"/>
          </a:ln>
          <a:effectLst>
            <a:outerShdw sx="100000" sy="100000" kx="0" ky="0" algn="bl" rotWithShape="0" blurRad="88900" dist="38100" dir="8100000">
              <a:srgbClr val="0A1526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86968" y="5486400"/>
            <a:ext cx="10417759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F4FA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Generate once, own it forever. The syntax and every component are open.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6327648"/>
            <a:ext cx="11057839" cy="0"/>
          </a:xfrm>
          <a:prstGeom prst="line">
            <a:avLst/>
          </a:prstGeom>
          <a:noFill/>
          <a:ln w="12700">
            <a:solidFill>
              <a:srgbClr val="E4EA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638251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9F9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</a:t>
            </a:r>
            <a:pPr algn="l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 · CODE   —   An AI-native language, tamed by a DAG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595567" y="638251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9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5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5B3A4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9601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WE SOLVE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6355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7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VLC solves the control problem</a:t>
            </a:r>
            <a:endParaRPr lang="en-US" sz="3000" dirty="0"/>
          </a:p>
          <a:p>
            <a:pPr indent="0" marL="0">
              <a:lnSpc>
                <a:spcPct val="107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of AI software generation.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32004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VL  </a:t>
            </a:r>
            <a:pPr indent="0" marL="0">
              <a:buNone/>
            </a:pPr>
            <a:r>
              <a:rPr lang="en-US" sz="15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gives AI the right representation.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66928" y="367588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DAG  </a:t>
            </a:r>
            <a:pPr indent="0" marL="0">
              <a:buNone/>
            </a:pPr>
            <a:r>
              <a:rPr lang="en-US" sz="15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gives AI the right process.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66928" y="4151376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Factory  </a:t>
            </a:r>
            <a:pPr indent="0" marL="0">
              <a:buNone/>
            </a:pPr>
            <a:r>
              <a:rPr lang="en-US" sz="1500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gives AI reusable engineering memory.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5074920"/>
            <a:ext cx="5852160" cy="603504"/>
          </a:xfrm>
          <a:prstGeom prst="roundRect">
            <a:avLst>
              <a:gd name="adj" fmla="val 13636"/>
            </a:avLst>
          </a:prstGeom>
          <a:solidFill>
            <a:srgbClr val="102747"/>
          </a:solidFill>
          <a:ln w="19050">
            <a:solidFill>
              <a:srgbClr val="15B3A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5074920"/>
            <a:ext cx="5852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FE7D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github.com/VisualLogic-AI/VL-Code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62572" y="1330452"/>
            <a:ext cx="4882896" cy="3168396"/>
          </a:xfrm>
          <a:prstGeom prst="rect">
            <a:avLst/>
          </a:prstGeom>
          <a:solidFill>
            <a:srgbClr val="FFFFFF"/>
          </a:solidFill>
          <a:ln w="12700">
            <a:solidFill>
              <a:srgbClr val="E4EAF1"/>
            </a:solidFill>
            <a:prstDash val="solid"/>
          </a:ln>
          <a:effectLst>
            <a:outerShdw sx="100000" sy="100000" kx="0" ky="0" algn="bl" rotWithShape="0" blurRad="114300" dist="50800" dir="8100000">
              <a:srgbClr val="0A1526">
                <a:alpha val="18000"/>
              </a:srgbClr>
            </a:outerShdw>
          </a:effectLst>
        </p:spPr>
      </p:sp>
      <p:pic>
        <p:nvPicPr>
          <p:cNvPr id="11" name="Image 0" descr="/Users/ivx/Documents/VLC-Marketing/brief/assets/vlc-chat-detail-2026-04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371600"/>
            <a:ext cx="4800600" cy="308610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903720" y="4521708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9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Chat + project context + DAG execution — in one local IDE.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VL · VLC Tech Promo (EN)</dc:title>
  <dc:subject>PptxGenJS Presentation</dc:subject>
  <dc:creator>VisualLogic</dc:creator>
  <cp:lastModifiedBy>VisualLogic</cp:lastModifiedBy>
  <cp:revision>1</cp:revision>
  <dcterms:created xsi:type="dcterms:W3CDTF">2026-06-07T16:41:26Z</dcterms:created>
  <dcterms:modified xsi:type="dcterms:W3CDTF">2026-06-07T16:41:26Z</dcterms:modified>
</cp:coreProperties>
</file>