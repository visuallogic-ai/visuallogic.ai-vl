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1396099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pic>
        <p:nvPicPr>
          <p:cNvPr id="4" name="Image 0" descr="/Users/ivx/Documents/VLC-Marketing/brief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85800"/>
            <a:ext cx="1085203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48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PROGRAMMING LANGUAGE  ·  VLC LOCAL IDE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260604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language built for AI —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a DAG that tames it.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45720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redesigns how software is represented for AI. VLC turns the entire build process into a graph you can see, verify, and trust.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5715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 (MIT)  ·  Local-first  ·  Export anytime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6053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62572" y="2290572"/>
            <a:ext cx="4882896" cy="31683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1" name="Image 1" descr="/Users/ivx/Documents/VLC-Marketing/brief/assets/vlc-map-mode-2026-04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331720"/>
            <a:ext cx="4800600" cy="30861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54818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 mode — an entire VL app as one architecture graph.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can ace a 'point'.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can't hold the 'line'.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bottleneck is no longer model intelligence. It is how code is represented and how the process is controlled.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12687" y="2240280"/>
            <a:ext cx="521208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87007" y="2423160"/>
            <a:ext cx="310896" cy="5486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9" name="Text 7"/>
          <p:cNvSpPr/>
          <p:nvPr/>
        </p:nvSpPr>
        <p:spPr>
          <a:xfrm>
            <a:off x="6687007" y="2532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Languages were never built for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87007" y="2807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assume a human author + a compiler. AI is left to guess the hidden structure.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12687" y="3355848"/>
            <a:ext cx="5212080" cy="969264"/>
          </a:xfrm>
          <a:prstGeom prst="roundRect">
            <a:avLst>
              <a:gd name="adj" fmla="val 8491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87007" y="3538728"/>
            <a:ext cx="310896" cy="5486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3" name="Text 11"/>
          <p:cNvSpPr/>
          <p:nvPr/>
        </p:nvSpPr>
        <p:spPr>
          <a:xfrm>
            <a:off x="6687007" y="36484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drift off course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87007" y="3922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Point-by-point I/O wanders — you babysit every step, and still miss.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12687" y="4471416"/>
            <a:ext cx="521208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87007" y="4654296"/>
            <a:ext cx="310896" cy="5486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7" name="Text 15"/>
          <p:cNvSpPr/>
          <p:nvPr/>
        </p:nvSpPr>
        <p:spPr>
          <a:xfrm>
            <a:off x="6687007" y="4764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Expensive, expert-only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87007" y="5038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burned regenerating the same code — that you still have to read.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changes the representation. VLC changes the process.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 · THE LANGUAGE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is a language designed for AI —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low-code, not a DSL.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General-purpose, with no capability ceiling. It works with today's models — even small, cheap, local ones.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3557016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39896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AI-native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4215384"/>
            <a:ext cx="28934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Language, IDE and AI designed together from day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4794" y="324612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7402" y="3557016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3" name="Text 11"/>
          <p:cNvSpPr/>
          <p:nvPr/>
        </p:nvSpPr>
        <p:spPr>
          <a:xfrm>
            <a:off x="4649114" y="3739896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General-purpose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9114" y="4215384"/>
            <a:ext cx="28934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ceiling — real apps, front to back, not toy flows.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2661" y="324612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5269" y="3557016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7" name="Text 15"/>
          <p:cNvSpPr/>
          <p:nvPr/>
        </p:nvSpPr>
        <p:spPr>
          <a:xfrm>
            <a:off x="8456981" y="3739896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Stable today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6981" y="4215384"/>
            <a:ext cx="28934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already generate VL reliably. No 'wait 5 years'.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Low-code hides complexity. VL structures it.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 · THE LANGUAGE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Decoupled on every axis —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generation runs in parallel.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Front/back · look/structure · build/deploy · data/usage. Each file is small, single-purpose, and standalone.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34930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 / 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.sc + .cp  /  .vs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4136" y="3310128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5304" y="34930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/ 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5304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THEME  /  components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425696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460857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/ Deploy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 /  target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74136" y="4425696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75304" y="460857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/ Usage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75304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.vdb  /  VirtualTable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49847" y="3310128"/>
            <a:ext cx="5074920" cy="969264"/>
          </a:xfrm>
          <a:prstGeom prst="roundRect">
            <a:avLst>
              <a:gd name="adj" fmla="val 8491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4167" y="3511296"/>
            <a:ext cx="310896" cy="5486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21" name="Text 19"/>
          <p:cNvSpPr/>
          <p:nvPr/>
        </p:nvSpPr>
        <p:spPr>
          <a:xfrm>
            <a:off x="6824167" y="362102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High-concurrency 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24167" y="39319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 and front-end modules generate in parallel, not one long file.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49847" y="4480560"/>
            <a:ext cx="5074920" cy="969264"/>
          </a:xfrm>
          <a:prstGeom prst="roundRect">
            <a:avLst>
              <a:gd name="adj" fmla="val 8491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24167" y="4681728"/>
            <a:ext cx="310896" cy="5486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25" name="Text 23"/>
          <p:cNvSpPr/>
          <p:nvPr/>
        </p:nvSpPr>
        <p:spPr>
          <a:xfrm>
            <a:off x="6824167" y="47914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assembly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4167" y="51023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 contracts let the factory snap components together.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files · single responsibility → small context, parallel, fewer hallucinations.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 · THE LANGUAGE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is a component —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front-end and back-end alike.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minimal unit of a VL program. The shape an AI agent reasons about best.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108960"/>
            <a:ext cx="338114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3456432"/>
            <a:ext cx="841248" cy="841248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4564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92808" y="3566160"/>
            <a:ext cx="1826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Properties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92808" y="3950208"/>
            <a:ext cx="1826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holds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5274" y="3108960"/>
            <a:ext cx="338114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5314" y="3456432"/>
            <a:ext cx="841248" cy="841248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5314" y="34564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31154" y="3566160"/>
            <a:ext cx="1826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31154" y="3950208"/>
            <a:ext cx="1826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43621" y="3108960"/>
            <a:ext cx="338114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63661" y="3456432"/>
            <a:ext cx="841248" cy="841248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3661" y="34564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69501" y="3566160"/>
            <a:ext cx="1826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69501" y="3950208"/>
            <a:ext cx="1826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reacts 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1D — lines of 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47488" y="4919472"/>
            <a:ext cx="1188720" cy="0"/>
          </a:xfrm>
          <a:prstGeom prst="line">
            <a:avLst/>
          </a:prstGeom>
          <a:noFill/>
          <a:ln w="25400">
            <a:solidFill>
              <a:srgbClr val="15B3A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327648" y="4736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2D — a graph of components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program is a composition of components. Structured, decoupled — exactly how an Agent works.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 · COMPONENT FACTORY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Component Factory: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16,000+ reusable building blocks.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just UI snippets — installable contracts for real VL projects. The expensive token-compute, banked.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474720"/>
            <a:ext cx="2558720" cy="1371600"/>
          </a:xfrm>
          <a:prstGeom prst="roundRect">
            <a:avLst>
              <a:gd name="adj" fmla="val 60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3730752"/>
            <a:ext cx="255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16,000+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4407408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9968" y="3474720"/>
            <a:ext cx="2558720" cy="1371600"/>
          </a:xfrm>
          <a:prstGeom prst="roundRect">
            <a:avLst>
              <a:gd name="adj" fmla="val 60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9968" y="3730752"/>
            <a:ext cx="255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P+M+E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99968" y="4407408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interface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3474720"/>
            <a:ext cx="2558720" cy="1371600"/>
          </a:xfrm>
          <a:prstGeom prst="roundRect">
            <a:avLst>
              <a:gd name="adj" fmla="val 60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3008" y="3730752"/>
            <a:ext cx="255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33008" y="4407408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manual glue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66047" y="3474720"/>
            <a:ext cx="2558720" cy="1371600"/>
          </a:xfrm>
          <a:prstGeom prst="roundRect">
            <a:avLst>
              <a:gd name="adj" fmla="val 60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66047" y="3730752"/>
            <a:ext cx="255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÷10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66047" y="4407408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Expensive generation happens once. Everyone reuses it forever.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2640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 · THE IDE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VLC: a local IDE built for VL + AI.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familiar as VS Code — and designed end-to-end for the VL language and AI. Local-first: your machine, your code, your models.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611880"/>
            <a:ext cx="55778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3813048"/>
            <a:ext cx="146304" cy="146304"/>
          </a:xfrm>
          <a:prstGeom prst="ellipse">
            <a:avLst/>
          </a:prstGeom>
          <a:solidFill>
            <a:srgbClr val="15B3A4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read/write + AI — the smoothest path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33672"/>
            <a:ext cx="55778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4434840"/>
            <a:ext cx="146304" cy="146304"/>
          </a:xfrm>
          <a:prstGeom prst="ellipse">
            <a:avLst/>
          </a:prstGeom>
          <a:solidFill>
            <a:srgbClr val="15B3A4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233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 optional, pay-as-you-go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855464"/>
            <a:ext cx="55778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" y="5056632"/>
            <a:ext cx="146304" cy="146304"/>
          </a:xfrm>
          <a:prstGeom prst="ellipse">
            <a:avLst/>
          </a:prstGeom>
          <a:solidFill>
            <a:srgbClr val="15B3A4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48554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lock-in, export anytime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42532" y="1467612"/>
            <a:ext cx="5202936" cy="3374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7" name="Image 0" descr="/Users/ivx/Documents/VLC-Marketing/brief/assets/vlc-code-mode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08760"/>
            <a:ext cx="5120640" cy="32918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0" y="48646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mode — VL and generated source, side by side.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Local-first. Cloud optional. The whole stack on your machine.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 · THE IDE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everything: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logic, structure, and process.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internal detail of a VL app is projected as a picture — and code ↔ graph stays 1:1, both directions.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5780" y="3067812"/>
            <a:ext cx="3538728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8" name="Image 0" descr="/Users/ivx/Documents/VLC-Marketing/brief/assets/vlc-logic-panel-2026-04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3108960"/>
            <a:ext cx="3456432" cy="1938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51206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Panel — internal logic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26484" y="3067812"/>
            <a:ext cx="3538728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1" name="Image 1" descr="/Users/ivx/Documents/VLC-Marketing/brief/assets/vlc-map-mode-2026-04-1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7632" y="3108960"/>
            <a:ext cx="3456432" cy="19385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7632" y="51206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 — layered call graph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127187" y="3067812"/>
            <a:ext cx="3538728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4" name="Image 2" descr="/Users/ivx/Documents/VLC-Marketing/brief/assets/vlc-flow-mode-2026-04-1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8335" y="3108960"/>
            <a:ext cx="3456432" cy="19385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68335" y="51206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— the generation process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reason in pictures. The IDE is a projection of the language.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 · DAG CORE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is the core of VLC —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the tool that tames AI.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agent works around the DAG. Creativity lives inside the nodes; determinism lives in the edges.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65760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365760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6099" y="4018788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0" name="Shape 8"/>
          <p:cNvSpPr/>
          <p:nvPr/>
        </p:nvSpPr>
        <p:spPr>
          <a:xfrm>
            <a:off x="2463942" y="365760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5B3A4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3942" y="365760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53113" y="4018788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3" name="Shape 11"/>
          <p:cNvSpPr/>
          <p:nvPr/>
        </p:nvSpPr>
        <p:spPr>
          <a:xfrm>
            <a:off x="4360956" y="365760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0956" y="365760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0128" y="4018788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7971" y="365760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57971" y="365760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Assemble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7142" y="4018788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9" name="Shape 17"/>
          <p:cNvSpPr/>
          <p:nvPr/>
        </p:nvSpPr>
        <p:spPr>
          <a:xfrm>
            <a:off x="8154985" y="365760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54985" y="365760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44156" y="4018788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1999" y="365760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1999" y="365760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Inside nodes = creativity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95567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Between edges = determinism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stays powerful — the process stays controllable.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2640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DAG WINS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vs. today's agents.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agents are either too complex (you must code them) or a single I/O point. The DAG makes the whole agent process visible and programmable.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697480"/>
            <a:ext cx="5074920" cy="475488"/>
          </a:xfrm>
          <a:prstGeom prst="roundRect">
            <a:avLst>
              <a:gd name="adj" fmla="val 13462"/>
            </a:avLst>
          </a:prstGeom>
          <a:solidFill>
            <a:srgbClr val="C0455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69748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Today's agents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282696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FBEEF1"/>
          </a:solidFill>
          <a:ln w="12700">
            <a:solidFill>
              <a:srgbClr val="EBC9D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" y="32826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5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28269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 complex to wire — or just a single I/O point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849624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FBEEF1"/>
          </a:solidFill>
          <a:ln w="12700">
            <a:solidFill>
              <a:srgbClr val="EBC9D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38496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5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84962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black box that drifts off course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416552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FBEEF1"/>
          </a:solidFill>
          <a:ln w="12700">
            <a:solidFill>
              <a:srgbClr val="EBC9D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" y="44165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5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41655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"Looks right" — hard to verify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983480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FBEEF1"/>
          </a:solidFill>
          <a:ln w="12700">
            <a:solidFill>
              <a:srgbClr val="EBC9D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498348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5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49834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 you can't predict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49847" y="2697480"/>
            <a:ext cx="5074920" cy="475488"/>
          </a:xfrm>
          <a:prstGeom prst="roundRect">
            <a:avLst>
              <a:gd name="adj" fmla="val 13462"/>
            </a:avLst>
          </a:prstGeom>
          <a:solidFill>
            <a:srgbClr val="0E9F91"/>
          </a:solidFill>
          <a:ln/>
        </p:spPr>
      </p:sp>
      <p:sp>
        <p:nvSpPr>
          <p:cNvPr id="22" name="Text 20"/>
          <p:cNvSpPr/>
          <p:nvPr/>
        </p:nvSpPr>
        <p:spPr>
          <a:xfrm>
            <a:off x="6824167" y="269748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VLC's DAG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49847" y="3282696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EAF7F4"/>
          </a:solidFill>
          <a:ln w="12700">
            <a:solidFill>
              <a:srgbClr val="BFE6D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51015" y="32826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3351" y="328269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+ programmable orchestration, zero coding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49847" y="3849624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EAF7F4"/>
          </a:solidFill>
          <a:ln w="12700">
            <a:solidFill>
              <a:srgbClr val="BFE6D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51015" y="38496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53351" y="384962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 in bounds — fully controllable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49847" y="4416552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EAF7F4"/>
          </a:solidFill>
          <a:ln w="12700">
            <a:solidFill>
              <a:srgbClr val="BFE6D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51015" y="44165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3351" y="441655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node can lint / compile / preview / test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49847" y="4983480"/>
            <a:ext cx="5074920" cy="475488"/>
          </a:xfrm>
          <a:prstGeom prst="roundRect">
            <a:avLst>
              <a:gd name="adj" fmla="val 17308"/>
            </a:avLst>
          </a:prstGeom>
          <a:solidFill>
            <a:srgbClr val="EAF7F4"/>
          </a:solidFill>
          <a:ln w="12700">
            <a:solidFill>
              <a:srgbClr val="BFE6DF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51015" y="498348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53351" y="49834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Produces exactly what the designer intended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of AI's power, kept inside the lines — technically ahead of point-wise agents.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HARNESS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AI creates output. A DAG harness creates progress.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9933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Complex systems are not finished in one step. A DAG makes inputs, outputs, node capability, validation and the next step explicit.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5029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AI node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" y="3401568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EAF2F8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456432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1709928" y="3493008"/>
            <a:ext cx="969264" cy="530352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" y="3657600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EAF2F8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712464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709928" y="3749040"/>
            <a:ext cx="969264" cy="402336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" y="3913632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EAF2F8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968496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1709928" y="4005072"/>
            <a:ext cx="969264" cy="27432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" y="4169664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EAF2F8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224528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1709928" y="4261104"/>
            <a:ext cx="969264" cy="146304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" y="4425696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EAF2F8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480560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1709928" y="4517136"/>
            <a:ext cx="969264" cy="18288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779776" y="3730752"/>
            <a:ext cx="786384" cy="530352"/>
          </a:xfrm>
          <a:prstGeom prst="roundRect">
            <a:avLst>
              <a:gd name="adj" fmla="val 13793"/>
            </a:avLst>
          </a:prstGeom>
          <a:solidFill>
            <a:srgbClr val="0A1526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9776" y="391363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21024" y="3986784"/>
            <a:ext cx="530352" cy="0"/>
          </a:xfrm>
          <a:prstGeom prst="line">
            <a:avLst/>
          </a:prstGeom>
          <a:noFill/>
          <a:ln w="19050">
            <a:solidFill>
              <a:srgbClr val="0E9F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42816" y="3694176"/>
            <a:ext cx="914400" cy="603504"/>
          </a:xfrm>
          <a:prstGeom prst="roundRect">
            <a:avLst>
              <a:gd name="adj" fmla="val 12121"/>
            </a:avLst>
          </a:prstGeom>
          <a:solidFill>
            <a:srgbClr val="15B3A4"/>
          </a:solidFill>
          <a:ln w="12700">
            <a:solidFill>
              <a:srgbClr val="15B3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2816" y="3904488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77824" y="4645152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Powerful, but the next step depends on a skilled operator — and each run may drift.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989320" y="2743200"/>
            <a:ext cx="5623560" cy="2331720"/>
          </a:xfrm>
          <a:prstGeom prst="roundRect">
            <a:avLst>
              <a:gd name="adj" fmla="val 3529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Harness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81928" y="3456432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56616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6336792" y="3730752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560" dirty="0"/>
          </a:p>
        </p:txBody>
      </p:sp>
      <p:sp>
        <p:nvSpPr>
          <p:cNvPr id="35" name="Shape 33"/>
          <p:cNvSpPr/>
          <p:nvPr/>
        </p:nvSpPr>
        <p:spPr>
          <a:xfrm>
            <a:off x="7214616" y="3675888"/>
            <a:ext cx="310896" cy="0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43800" y="3456432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8664" y="356616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Manifest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7598664" y="3730752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</a:t>
            </a:r>
            <a:endParaRPr lang="en-US" sz="560" dirty="0"/>
          </a:p>
        </p:txBody>
      </p:sp>
      <p:sp>
        <p:nvSpPr>
          <p:cNvPr id="39" name="Shape 37"/>
          <p:cNvSpPr/>
          <p:nvPr/>
        </p:nvSpPr>
        <p:spPr>
          <a:xfrm>
            <a:off x="8476488" y="3675888"/>
            <a:ext cx="310896" cy="0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805672" y="3456432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5B3A4"/>
          </a:solidFill>
          <a:ln w="12700">
            <a:solidFill>
              <a:srgbClr val="15B3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0536" y="356616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Build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8860536" y="3730752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560" dirty="0"/>
          </a:p>
        </p:txBody>
      </p:sp>
      <p:sp>
        <p:nvSpPr>
          <p:cNvPr id="43" name="Shape 41"/>
          <p:cNvSpPr/>
          <p:nvPr/>
        </p:nvSpPr>
        <p:spPr>
          <a:xfrm>
            <a:off x="9738360" y="3675888"/>
            <a:ext cx="310896" cy="0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067544" y="3456432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22408" y="356616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10122408" y="3730752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</a:t>
            </a:r>
            <a:endParaRPr lang="en-US" sz="560" dirty="0"/>
          </a:p>
        </p:txBody>
      </p:sp>
      <p:sp>
        <p:nvSpPr>
          <p:cNvPr id="47" name="Shape 45"/>
          <p:cNvSpPr/>
          <p:nvPr/>
        </p:nvSpPr>
        <p:spPr>
          <a:xfrm>
            <a:off x="10533888" y="3895344"/>
            <a:ext cx="0" cy="219456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48272" y="4114800"/>
            <a:ext cx="3785616" cy="0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48272" y="4114800"/>
            <a:ext cx="0" cy="219456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281928" y="4297680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440740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6336792" y="4572000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</a:t>
            </a:r>
            <a:endParaRPr lang="en-US" sz="560" dirty="0"/>
          </a:p>
        </p:txBody>
      </p:sp>
      <p:sp>
        <p:nvSpPr>
          <p:cNvPr id="53" name="Shape 51"/>
          <p:cNvSpPr/>
          <p:nvPr/>
        </p:nvSpPr>
        <p:spPr>
          <a:xfrm>
            <a:off x="7214616" y="4517136"/>
            <a:ext cx="310896" cy="0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543800" y="4297680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5B3A4"/>
          </a:solidFill>
          <a:ln w="12700">
            <a:solidFill>
              <a:srgbClr val="15B3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98664" y="440740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Repair</a:t>
            </a:r>
            <a:endParaRPr lang="en-US" sz="670" dirty="0"/>
          </a:p>
        </p:txBody>
      </p:sp>
      <p:sp>
        <p:nvSpPr>
          <p:cNvPr id="56" name="Text 54"/>
          <p:cNvSpPr/>
          <p:nvPr/>
        </p:nvSpPr>
        <p:spPr>
          <a:xfrm>
            <a:off x="7598664" y="4572000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063C3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560" dirty="0"/>
          </a:p>
        </p:txBody>
      </p:sp>
      <p:sp>
        <p:nvSpPr>
          <p:cNvPr id="57" name="Shape 55"/>
          <p:cNvSpPr/>
          <p:nvPr/>
        </p:nvSpPr>
        <p:spPr>
          <a:xfrm>
            <a:off x="8476488" y="4517136"/>
            <a:ext cx="310896" cy="0"/>
          </a:xfrm>
          <a:prstGeom prst="line">
            <a:avLst/>
          </a:prstGeom>
          <a:noFill/>
          <a:ln w="13970">
            <a:solidFill>
              <a:srgbClr val="7FE7D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805672" y="4297680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102747"/>
          </a:solidFill>
          <a:ln w="12700">
            <a:solidFill>
              <a:srgbClr val="2640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60536" y="440740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8860536" y="4572000"/>
            <a:ext cx="8229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560" dirty="0"/>
          </a:p>
        </p:txBody>
      </p:sp>
      <p:sp>
        <p:nvSpPr>
          <p:cNvPr id="61" name="Text 59"/>
          <p:cNvSpPr/>
          <p:nvPr/>
        </p:nvSpPr>
        <p:spPr>
          <a:xfrm>
            <a:off x="6336792" y="4645152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graph harnesses every capability: AI nodes, tool nodes, manifests, checks, human gates and outputs.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 · THE IDE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software with</a:t>
            </a:r>
            <a:endParaRPr lang="en-US" sz="29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programming knowledge.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what you want, watch the DAG run, refine visually. Code is still there — but it's no longer the only doorway 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9319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4133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what to build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4389120"/>
            <a:ext cx="301752" cy="0"/>
          </a:xfrm>
          <a:prstGeom prst="line">
            <a:avLst/>
          </a:prstGeom>
          <a:noFill/>
          <a:ln w="25400">
            <a:solidFill>
              <a:srgbClr val="15B3A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32888" y="39319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5B3A4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32888" y="4133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32888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F5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 the process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42232" y="4389120"/>
            <a:ext cx="301752" cy="0"/>
          </a:xfrm>
          <a:prstGeom prst="line">
            <a:avLst/>
          </a:prstGeom>
          <a:noFill/>
          <a:ln w="25400">
            <a:solidFill>
              <a:srgbClr val="15B3A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98848" y="39319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98848" y="4133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edit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refine the structure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42532" y="1513332"/>
            <a:ext cx="5202936" cy="359529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9" name="Image 0" descr="/Users/ivx/Documents/VLC-Marketing/brief/assets/vlc-visual-panel-2026-04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54480"/>
            <a:ext cx="5120640" cy="35129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83680" y="513148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Panel — inspect and adjust the app as structure.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first time, the door to programming opens to everyone.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 · THE IDE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Search-and-assemble nodes: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the compute, don't burn it.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Drop a 'search components' node into the DAG. Every match is fetched, the AI confirms, and they snap together automatically.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83868" y="345643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83868" y="34564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 components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18408" y="3817620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0" name="Shape 8"/>
          <p:cNvSpPr/>
          <p:nvPr/>
        </p:nvSpPr>
        <p:spPr>
          <a:xfrm>
            <a:off x="4015588" y="345643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15588" y="34564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confirms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0128" y="3817620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3" name="Shape 11"/>
          <p:cNvSpPr/>
          <p:nvPr/>
        </p:nvSpPr>
        <p:spPr>
          <a:xfrm>
            <a:off x="6347308" y="345643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5B3A4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7308" y="34564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Auto-assemble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81848" y="3817620"/>
            <a:ext cx="146304" cy="146304"/>
          </a:xfrm>
          <a:prstGeom prst="rtTriangle">
            <a:avLst/>
          </a:prstGeom>
          <a:solidFill>
            <a:srgbClr val="15B3A4"/>
          </a:solidFill>
          <a:ln/>
        </p:spPr>
      </p:sp>
      <p:sp>
        <p:nvSpPr>
          <p:cNvPr id="16" name="Shape 14"/>
          <p:cNvSpPr/>
          <p:nvPr/>
        </p:nvSpPr>
        <p:spPr>
          <a:xfrm>
            <a:off x="8679028" y="345643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79028" y="34564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01288" y="4434840"/>
            <a:ext cx="4389120" cy="822960"/>
          </a:xfrm>
          <a:prstGeom prst="roundRect">
            <a:avLst>
              <a:gd name="adj" fmla="val 10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01288" y="4498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÷10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901288" y="49560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vs. regenerating from scratch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Intelligence is banked in components, in the cloud — loaded on demand, not re-billed.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III · OPEN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is a black box —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bring your own.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resource layer is open for you to extend. Upload it, version it, reuse it across projects.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199211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61232" y="3538728"/>
            <a:ext cx="603504" cy="603504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232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4270248"/>
            <a:ext cx="180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4581144"/>
            <a:ext cx="180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own DAGs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3360" y="3246120"/>
            <a:ext cx="199211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7664" y="3538728"/>
            <a:ext cx="603504" cy="603504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7664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4800" y="4270248"/>
            <a:ext cx="180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4800" y="4581144"/>
            <a:ext cx="180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specs &amp; context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3246120"/>
            <a:ext cx="199211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94096" y="3538728"/>
            <a:ext cx="603504" cy="603504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4096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91232" y="4270248"/>
            <a:ext cx="180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91232" y="4581144"/>
            <a:ext cx="180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 actions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66224" y="3246120"/>
            <a:ext cx="199211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0527" y="3538728"/>
            <a:ext cx="603504" cy="603504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0527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↑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57664" y="4270248"/>
            <a:ext cx="180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7664" y="4581144"/>
            <a:ext cx="180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into the Factory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32655" y="3246120"/>
            <a:ext cx="199211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326959" y="3538728"/>
            <a:ext cx="603504" cy="603504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26959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↑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724095" y="4270248"/>
            <a:ext cx="180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24095" y="4581144"/>
            <a:ext cx="180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capabilities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workflows, your components, your tools — all uploadable, all yours.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6692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III · OPEN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Export, self-host, open source —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lock-in.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build is yours, with no limits on where it runs and no walls around the core technology.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3511296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694176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4169664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Apps export to React + Node source — run them anywhere.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4794" y="32004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7402" y="3511296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3" name="Text 11"/>
          <p:cNvSpPr/>
          <p:nvPr/>
        </p:nvSpPr>
        <p:spPr>
          <a:xfrm>
            <a:off x="4649114" y="3694176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Self-host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9114" y="4169664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A5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 deployment with no restrictions whatsoever.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2661" y="32004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0A1526"/>
          </a:solidFill>
          <a:ln/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5269" y="3511296"/>
            <a:ext cx="384048" cy="64008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17" name="Text 15"/>
          <p:cNvSpPr/>
          <p:nvPr/>
        </p:nvSpPr>
        <p:spPr>
          <a:xfrm>
            <a:off x="8456981" y="3694176"/>
            <a:ext cx="28934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6981" y="4169664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syntax and core docs are open. Every component is open.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AF2F8"/>
          </a:solidFill>
          <a:ln w="12700">
            <a:solidFill>
              <a:srgbClr val="D6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52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486400"/>
            <a:ext cx="104177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F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once, own it forever. The syntax and every component are open.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9F9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</a:t>
            </a:r>
            <a:pPr algn="l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CODE   —   An AI-native language, tamed by a DAG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5567" y="6382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B3A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60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SOLVE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6355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VLC solves the control problem</a:t>
            </a:r>
            <a:endParaRPr lang="en-US" sz="30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AI software generation.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  </a:t>
            </a:r>
            <a:pPr indent="0" marL="0">
              <a:buNone/>
            </a:pPr>
            <a:r>
              <a:rPr lang="en-US" sz="15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gives AI the right representation.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675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  </a:t>
            </a:r>
            <a:pPr indent="0" marL="0">
              <a:buNone/>
            </a:pPr>
            <a:r>
              <a:rPr lang="en-US" sz="15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gives AI the right process.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15137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Factory  </a:t>
            </a:r>
            <a:pPr indent="0" marL="0">
              <a:buNone/>
            </a:pPr>
            <a:r>
              <a:rPr lang="en-US" sz="1500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gives AI reusable engineering memory.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5074920"/>
            <a:ext cx="5852160" cy="603504"/>
          </a:xfrm>
          <a:prstGeom prst="roundRect">
            <a:avLst>
              <a:gd name="adj" fmla="val 13636"/>
            </a:avLst>
          </a:prstGeom>
          <a:solidFill>
            <a:srgbClr val="102747"/>
          </a:solidFill>
          <a:ln w="19050">
            <a:solidFill>
              <a:srgbClr val="15B3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507492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E7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github.com/VisualLogic-AI/VL-Code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62572" y="1330452"/>
            <a:ext cx="4882896" cy="31683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sx="100000" sy="100000" kx="0" ky="0" algn="bl" rotWithShape="0" blurRad="114300" dist="50800" dir="8100000">
              <a:srgbClr val="0A1526">
                <a:alpha val="18000"/>
              </a:srgbClr>
            </a:outerShdw>
          </a:effectLst>
        </p:spPr>
      </p:sp>
      <p:pic>
        <p:nvPicPr>
          <p:cNvPr id="11" name="Image 0" descr="/Users/ivx/Documents/VLC-Marketing/brief/assets/vlc-chat-detail-2026-04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71600"/>
            <a:ext cx="4800600" cy="30861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45217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 + project context + DAG execution — in one local IDE.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 · VLC Tech Promo (EN)</dc:title>
  <dc:subject>PptxGenJS Presentation</dc:subject>
  <dc:creator>VisualLogic</dc:creator>
  <cp:lastModifiedBy>VisualLogic</cp:lastModifiedBy>
  <cp:revision>1</cp:revision>
  <dcterms:created xsi:type="dcterms:W3CDTF">2026-06-10T04:03:06Z</dcterms:created>
  <dcterms:modified xsi:type="dcterms:W3CDTF">2026-06-10T04:03:06Z</dcterms:modified>
</cp:coreProperties>
</file>