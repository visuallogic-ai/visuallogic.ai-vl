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13960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</p:spPr>
      </p:sp>
      <p:pic>
        <p:nvPicPr>
          <p:cNvPr id="4" name="Image 0" descr="/Users/ivx/Documents/VLC-Marketing/brief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685800"/>
            <a:ext cx="1085203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286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LOCAL · AI-NATIVE DEVELOPMENT PLATFORM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66928" y="2697480"/>
            <a:ext cx="6675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Tame AI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inside a DAG</a:t>
            </a:r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15B3A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566928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AI's capability and creativity — with the stability of a graph you can trust.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66928" y="59436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source (MIT) · Local-first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6263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16852" y="2656332"/>
            <a:ext cx="4928616" cy="3197787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1" name="Image 1" descr="/Users/ivx/Documents/VLC-Marketing/brief/assets/vlc-map-mode-2026-04-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97480"/>
            <a:ext cx="4846320" cy="31154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858000" y="5876979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 mode — a whole VL app as one architecture graph.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FRAME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AI-assisted programming.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AI-native programming.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761488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926080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Language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8934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Component-oriented,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minimal but complete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4794" y="246888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7402" y="2761488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2" name="Text 10"/>
          <p:cNvSpPr/>
          <p:nvPr/>
        </p:nvSpPr>
        <p:spPr>
          <a:xfrm>
            <a:off x="4649114" y="2926080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IDE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49114" y="3383280"/>
            <a:ext cx="28934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graphical projection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VL syntax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2661" y="246888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5269" y="2761488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6" name="Text 14"/>
          <p:cNvSpPr/>
          <p:nvPr/>
        </p:nvSpPr>
        <p:spPr>
          <a:xfrm>
            <a:off x="8456981" y="2926080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Generation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56981" y="3383280"/>
            <a:ext cx="28934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Native AI-first,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multi-agent parallel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4526280"/>
            <a:ext cx="11057839" cy="841248"/>
          </a:xfrm>
          <a:prstGeom prst="roundRect">
            <a:avLst>
              <a:gd name="adj" fmla="val 9783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86968" y="4526280"/>
            <a:ext cx="1041775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Low-Code  ·  Not No-Code  ·  Not DSL</a:t>
            </a:r>
            <a:pPr indent="0" marL="0"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— general-purpose, no capability ceiling.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" y="55778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Low-code </a:t>
            </a:r>
            <a:pPr algn="ctr" indent="0" marL="0">
              <a:buNone/>
            </a:pPr>
            <a:r>
              <a:rPr lang="en-US" sz="1500" b="1" i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hides</a:t>
            </a:r>
            <a:pPr algn="ctr" indent="0" marL="0">
              <a:buNone/>
            </a:pPr>
            <a:r>
              <a:rPr lang="en-US" sz="15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complexity. VL </a:t>
            </a:r>
            <a:pPr algn="ctr" indent="0" marL="0">
              <a:buNone/>
            </a:pPr>
            <a:r>
              <a:rPr lang="en-US" sz="1500" b="1" i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structures</a:t>
            </a:r>
            <a:pPr algn="ctr" indent="0" marL="0">
              <a:buNone/>
            </a:pPr>
            <a:r>
              <a:rPr lang="en-US" sz="15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NOW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Programming languages were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never designed for AI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53003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69748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60-YEAR ASSUMPTION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3063240"/>
            <a:ext cx="466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 +  Compiler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86968" y="3703320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–"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Millions of lines to understand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6968" y="4123944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–"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Linear, sequential structure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86968" y="4544568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–"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Implicit relationships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86968" y="4965192"/>
            <a:ext cx="466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–"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Line-by-line generation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24448" y="2468880"/>
            <a:ext cx="5300320" cy="3017520"/>
          </a:xfrm>
          <a:prstGeom prst="roundRect">
            <a:avLst>
              <a:gd name="adj" fmla="val 2727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44488" y="269748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WE FORCE AI INTO IT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44488" y="3063240"/>
            <a:ext cx="466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fundamental mismatch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644488" y="3703320"/>
            <a:ext cx="466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built languages for humans to write and compilers to run — then dropped a probabilistic model into the middle and hoped.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644488" y="4800600"/>
            <a:ext cx="466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“This is fundamentally misaligned.”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LANGUAGES, LEVELED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AI, every language looks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alike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5300320" cy="2542032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60604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AI ERASED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3017520"/>
            <a:ext cx="466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Natural languages —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English · Chinese · Japanese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Programming languages too —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Python · Java · JS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4315968"/>
            <a:ext cx="466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a model, one language is much like another.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4448" y="2395728"/>
            <a:ext cx="5300320" cy="2542032"/>
          </a:xfrm>
          <a:prstGeom prst="roundRect">
            <a:avLst>
              <a:gd name="adj" fmla="val 3237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44488" y="260604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STILL DIFFERS — A LOT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44488" y="3072384"/>
            <a:ext cx="466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Tokens burned per I/O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44488" y="3529584"/>
            <a:ext cx="466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logic is expressed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44488" y="3986784"/>
            <a:ext cx="466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an app is composed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44488" y="449884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cost is wildly unequal.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138928"/>
            <a:ext cx="11057839" cy="868680"/>
          </a:xfrm>
          <a:prstGeom prst="roundRect">
            <a:avLst>
              <a:gd name="adj" fmla="val 9474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" y="5138928"/>
            <a:ext cx="103263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the model is indifferent, design the language that costs </a:t>
            </a:r>
            <a:pPr indent="0" marL="0">
              <a:lnSpc>
                <a:spcPct val="115000"/>
              </a:lnSpc>
              <a:buNone/>
            </a:pPr>
            <a:r>
              <a:rPr lang="en-US" sz="135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the least — a language whose user is the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not the human. (People still learn it in an afternoon.)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CORE IDEA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is brilliant at a 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can't hold a 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7432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Today's best coding agents are point-wise: one input, one output. You can't predict the output — so you can't predict the next step's starting point, and you end up babysitting every move.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4343400"/>
            <a:ext cx="5486400" cy="1417320"/>
          </a:xfrm>
          <a:prstGeom prst="roundRect">
            <a:avLst>
              <a:gd name="adj" fmla="val 5806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434340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 VLC puts the AI inside a DAG.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Creativity lives in the nodes. Determinism lives in the edges. You stop babysitting and start orchestrating.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5372" y="2382012"/>
            <a:ext cx="5294376" cy="3432919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0" name="Image 0" descr="/Users/ivx/Documents/VLC-Marketing/brief/assets/vlc-flow-mode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423160"/>
            <a:ext cx="5212080" cy="3350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46520" y="5837791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Flow mode — every build runs as a verifiable DAG: generate → check → fix → preview.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LEVELER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AI.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10× the gap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between people.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a single point, you can't out-think AI anymore. But apps aren't a point — they're a line of many points, stacked in layers. Driving every I/O along that line is the whole job now: with the same model, one builder ships 10× while another stalls.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4297680"/>
            <a:ext cx="5532120" cy="1554480"/>
          </a:xfrm>
          <a:prstGeom prst="roundRect">
            <a:avLst>
              <a:gd name="adj" fmla="val 5294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429768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DAG is the leveler.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It's the path-plan that drives AI across the whole line — and the AI can draw that plan itself.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46520" y="2377440"/>
            <a:ext cx="51782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A DAG CAN DO THIS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46520" y="2834640"/>
            <a:ext cx="5178247" cy="1444752"/>
          </a:xfrm>
          <a:prstGeom prst="roundRect">
            <a:avLst>
              <a:gd name="adj" fmla="val 5696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20840" y="3108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5B3A4"/>
          </a:solidFill>
          <a:ln/>
        </p:spPr>
      </p:sp>
      <p:sp>
        <p:nvSpPr>
          <p:cNvPr id="12" name="Text 10"/>
          <p:cNvSpPr/>
          <p:nvPr/>
        </p:nvSpPr>
        <p:spPr>
          <a:xfrm>
            <a:off x="67208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0" y="3072384"/>
            <a:ext cx="4035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Logic decomposes — and recomposes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720840" y="3675888"/>
            <a:ext cx="46296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Any complex process splits into points and edges; so does the compute behind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46520" y="4425696"/>
            <a:ext cx="5178247" cy="1444752"/>
          </a:xfrm>
          <a:prstGeom prst="roundRect">
            <a:avLst>
              <a:gd name="adj" fmla="val 5696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20840" y="470001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5B3A4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4700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0" y="4663440"/>
            <a:ext cx="4035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is exceptional at logic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720840" y="5266944"/>
            <a:ext cx="46296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Give the model explicit structure and it plans, fills and checks each step reliably.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MOAT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is AI's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Intermediate Representation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697480"/>
            <a:ext cx="3154680" cy="1417320"/>
          </a:xfrm>
          <a:prstGeom prst="roundRect">
            <a:avLst>
              <a:gd name="adj" fmla="val 5806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971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Intent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350215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Natural 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21608" y="2697480"/>
            <a:ext cx="7969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518508" y="2697480"/>
            <a:ext cx="3154680" cy="1417320"/>
          </a:xfrm>
          <a:prstGeom prst="roundRect">
            <a:avLst>
              <a:gd name="adj" fmla="val 5806"/>
            </a:avLst>
          </a:prstGeom>
          <a:solidFill>
            <a:srgbClr val="15B3A4"/>
          </a:solidFill>
          <a:ln w="12700">
            <a:solidFill>
              <a:srgbClr val="15B3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1388" y="2971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4211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1388" y="350215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A3D3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Intermediate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A3D3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Representation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73188" y="2697480"/>
            <a:ext cx="7969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470087" y="2697480"/>
            <a:ext cx="3154680" cy="1417320"/>
          </a:xfrm>
          <a:prstGeom prst="roundRect">
            <a:avLst>
              <a:gd name="adj" fmla="val 5806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52967" y="29718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Executable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52967" y="350215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React, Node.js, 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42519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generates VL  ·  VL compiles to any target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4846320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2688" y="4846320"/>
            <a:ext cx="1032631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Whoever controls the representation layer controls the system's ceiling.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Representation efficiency &gt; model size — the real moat.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2640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SOURCE OF TRUTH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document.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Infinite apps.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5300320" cy="2971800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69748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TRADITIONAL FULL-STACK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3108960"/>
            <a:ext cx="466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 · Node · Express · TypeScript · PostgreSQL · Redis · Tailwind · Prisma  + 50 more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86968" y="4434840"/>
            <a:ext cx="466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Scattered across hundreds of docs — always changing.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4448" y="2468880"/>
            <a:ext cx="5300320" cy="2971800"/>
          </a:xfrm>
          <a:prstGeom prst="roundRect">
            <a:avLst>
              <a:gd name="adj" fmla="val 2769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44488" y="269748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FULL-STACK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44488" y="3108960"/>
            <a:ext cx="466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VL Syntax Reference — “The Bible.” One ~100 KB document covers UI, logic, backend, database, deployment.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44488" y="4572000"/>
            <a:ext cx="15534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644488" y="5074920"/>
            <a:ext cx="15534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97901" y="4572000"/>
            <a:ext cx="15534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197901" y="5074920"/>
            <a:ext cx="15534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51314" y="4572000"/>
            <a:ext cx="15534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∞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751314" y="5074920"/>
            <a:ext cx="15534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Decoupled on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axis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578608"/>
            <a:ext cx="118872" cy="118872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Front / back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13048" y="24688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Sections + Components ( .sc + .cp )  vs  Services ( .vs 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35808"/>
            <a:ext cx="6492240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3255264"/>
            <a:ext cx="118872" cy="118872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1455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/ structure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13048" y="3145536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Visuals &amp; design tokens live in THEME — apart from logic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712464"/>
            <a:ext cx="6492240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3931920"/>
            <a:ext cx="118872" cy="118872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38221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/ deploy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13048" y="38221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you author is not what you ship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89120"/>
            <a:ext cx="6492240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4608576"/>
            <a:ext cx="118872" cy="118872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/ data-usage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13048" y="449884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Schema ( .vdb )  vs  VirtualTable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065776"/>
            <a:ext cx="6492240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285232"/>
            <a:ext cx="118872" cy="118872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175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Small focused files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813048" y="51755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file &lt; 100 lines, one responsibility, no cross-file mess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580644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Smaller, independent surfaces → less ambiguity in, fewer hallucinations out.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274052" y="2473452"/>
            <a:ext cx="4425696" cy="306207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27" name="Image 0" descr="/Users/ivx/Documents/VLC-Marketing/brief/assets/vlc-theme-panel-2026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514600"/>
            <a:ext cx="4343400" cy="297977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315200" y="555838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THEME — visuals decoupled from structure.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Everything is a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344210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761488"/>
            <a:ext cx="457200" cy="457200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35608" y="2779776"/>
            <a:ext cx="23448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Properties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3383280"/>
            <a:ext cx="28934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state, configuration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4794" y="2468880"/>
            <a:ext cx="344210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9114" y="2761488"/>
            <a:ext cx="457200" cy="457200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9114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243474" y="2779776"/>
            <a:ext cx="23448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Methods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49114" y="3383280"/>
            <a:ext cx="28934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Actions, business logic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82661" y="2468880"/>
            <a:ext cx="344210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6981" y="2761488"/>
            <a:ext cx="457200" cy="457200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6981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051341" y="2779776"/>
            <a:ext cx="23448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56981" y="3383280"/>
            <a:ext cx="28934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Triggers, interactions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3434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 + M + E</a:t>
            </a:r>
            <a:pPr algn="ctr" indent="0" marL="0">
              <a:buNone/>
            </a:pPr>
            <a:r>
              <a:rPr lang="en-US" sz="15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—  the trinity in every component. </a:t>
            </a:r>
            <a:pPr algn="ctr"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 = component composition.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983480"/>
            <a:ext cx="11057839" cy="914400"/>
          </a:xfrm>
          <a:prstGeom prst="roundRect">
            <a:avLst>
              <a:gd name="adj" fmla="val 9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32688" y="4983480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1D to 2D programming.   </a:t>
            </a:r>
            <a:pPr indent="0" marL="0">
              <a:buNone/>
            </a:pPr>
            <a:r>
              <a:rPr lang="en-US" sz="14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Lines in sequence  →  a multi-dimensional graph of components with explicit relationships.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 the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token-compute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Share it to everyone.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asset is encapsulated as a reusable component. Generate it once, store it, and share it to every developer — the expensive token-compute of AI becomes a reusable asset instead of a one-off spend.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43891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5B3A4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15568" y="4389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 once  —  </a:t>
            </a:r>
            <a:pPr indent="0" marL="0">
              <a:buNone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pays the token cost a single time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9560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5B3A4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49560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  —  </a:t>
            </a:r>
            <a:pPr indent="0" marL="0">
              <a:buNone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component is banked, versioned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552297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5B3A4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5522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" y="552297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everywhere  —  </a:t>
            </a:r>
            <a:pPr indent="0" marL="0">
              <a:buNone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Amortized across every project &amp; team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0" y="251460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80960" y="30175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Higher output.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80960" y="3520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Lower spend.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80960" y="411480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cost of intelligence is paid once and amortized across everyone who builds on it.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STORE, DON'T BURN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Don't buy more GPUs.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 the compute.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5532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industry races to add GPUs and power. We think that's the wrong axis. 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Most of that compute is storable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once AI pays the tokens to build something correct, the result is banked forever. The 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 Factory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is exactly that: a compute-storage center.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4370832"/>
            <a:ext cx="5532120" cy="1481328"/>
          </a:xfrm>
          <a:prstGeom prst="roundRect">
            <a:avLst>
              <a:gd name="adj" fmla="val 5556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4370832"/>
            <a:ext cx="4892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compute to “write code” all but vanishes.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assemble banked compute — you don't re-spend it.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46520" y="2286000"/>
            <a:ext cx="5178247" cy="1645920"/>
          </a:xfrm>
          <a:prstGeom prst="roundRect">
            <a:avLst>
              <a:gd name="adj" fmla="val 5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2523744"/>
            <a:ext cx="4629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10,000,000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739128" y="3273552"/>
            <a:ext cx="45930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 BANKED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739128" y="3584448"/>
            <a:ext cx="45930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Generated once, stored, shared to everyone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4087368"/>
            <a:ext cx="5178247" cy="1645920"/>
          </a:xfrm>
          <a:prstGeom prst="roundRect">
            <a:avLst>
              <a:gd name="adj" fmla="val 5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4325112"/>
            <a:ext cx="4629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99.999%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739128" y="5074920"/>
            <a:ext cx="45930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ALL SOFTWARE NEEDS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739128" y="5385816"/>
            <a:ext cx="45930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· platform · enterprise — already covered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NUMBERS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Fewer tokens. Faster.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Bigger.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606040"/>
            <a:ext cx="3442106" cy="2286000"/>
          </a:xfrm>
          <a:prstGeom prst="roundRect">
            <a:avLst>
              <a:gd name="adj" fmla="val 36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926080"/>
            <a:ext cx="307634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÷10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749808" y="3977640"/>
            <a:ext cx="3076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6968" y="4389120"/>
            <a:ext cx="28020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 are pre-abstracted — pure logic, no boilerplate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4794" y="2606040"/>
            <a:ext cx="3442106" cy="2286000"/>
          </a:xfrm>
          <a:prstGeom prst="roundRect">
            <a:avLst>
              <a:gd name="adj" fmla="val 36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7674" y="2926080"/>
            <a:ext cx="307634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×10</a:t>
            </a:r>
            <a:endParaRPr lang="en-US" sz="5800" dirty="0"/>
          </a:p>
        </p:txBody>
      </p:sp>
      <p:sp>
        <p:nvSpPr>
          <p:cNvPr id="12" name="Text 10"/>
          <p:cNvSpPr/>
          <p:nvPr/>
        </p:nvSpPr>
        <p:spPr>
          <a:xfrm>
            <a:off x="4557674" y="3977640"/>
            <a:ext cx="3076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4834" y="4389120"/>
            <a:ext cx="28020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Files generate in parallel, not one after another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82661" y="2606040"/>
            <a:ext cx="3442106" cy="2286000"/>
          </a:xfrm>
          <a:prstGeom prst="roundRect">
            <a:avLst>
              <a:gd name="adj" fmla="val 36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5541" y="2926080"/>
            <a:ext cx="307634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10×</a:t>
            </a:r>
            <a:endParaRPr lang="en-US" sz="5800" dirty="0"/>
          </a:p>
        </p:txBody>
      </p:sp>
      <p:sp>
        <p:nvSpPr>
          <p:cNvPr id="16" name="Text 14"/>
          <p:cNvSpPr/>
          <p:nvPr/>
        </p:nvSpPr>
        <p:spPr>
          <a:xfrm>
            <a:off x="8365541" y="3977640"/>
            <a:ext cx="3076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02701" y="4389120"/>
            <a:ext cx="28020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500+ components — beyond ordinary token limits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21208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line of VL ≈ 200–400 lines of code</a:t>
            </a:r>
            <a:pPr algn="ctr" indent="0" marL="0">
              <a:buNone/>
            </a:pPr>
            <a:r>
              <a:rPr lang="en-US" sz="15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·    80% less code    ·    90% token savings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2640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TODAY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needs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less AI capability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and it works today.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468880"/>
            <a:ext cx="53003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69748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TRADITIONAL AI IDE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310896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✕"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Strong reasoning across complex codebases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86968" y="349300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✕"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Many frameworks at once, implicit state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86968" y="3877056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✕"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500+ lines per feature, context overflow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86968" y="4261104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✕"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 hallucination under complexity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86968" y="4709160"/>
            <a:ext cx="466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Stable complex-app generation:  </a:t>
            </a:r>
            <a:pPr indent="0" marL="0">
              <a:buNone/>
            </a:pPr>
            <a:r>
              <a:rPr lang="en-US" sz="1300" b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5–10 more years.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24448" y="2468880"/>
            <a:ext cx="5300320" cy="2743200"/>
          </a:xfrm>
          <a:prstGeom prst="roundRect">
            <a:avLst>
              <a:gd name="adj" fmla="val 3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44488" y="269748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AI IDE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44488" y="3108960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Simple P + M + E — one consistent pattern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644488" y="3493008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document covers everything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44488" y="3877056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50–100 lines per file, parallel generation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44488" y="4261104"/>
            <a:ext cx="466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validation catches errors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44488" y="4709160"/>
            <a:ext cx="466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Stable VL-app generation:  </a:t>
            </a:r>
            <a:pPr indent="0" marL="0">
              <a:buNone/>
            </a:pPr>
            <a:r>
              <a:rPr lang="en-US" sz="13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TODAY.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5321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Because the bar is lower, </a:t>
            </a:r>
            <a:pPr algn="ctr" indent="0" marL="0">
              <a:buNone/>
            </a:pPr>
            <a:r>
              <a:rPr lang="en-US" sz="1400" b="1" i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cheap, small, even local models run VL well</a:t>
            </a:r>
            <a:pPr algn="ctr" indent="0" marL="0">
              <a:buNone/>
            </a:pPr>
            <a:r>
              <a:rPr lang="en-US" sz="14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THE SYSTEM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reason in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pictures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not buried text.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34116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→ Map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25780" y="2747772"/>
            <a:ext cx="3493922" cy="2275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8" name="Image 0" descr="/Users/ivx/Documents/VLC-Marketing/brief/assets/vlc-map-mode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88920"/>
            <a:ext cx="3411626" cy="21931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390034" y="2377440"/>
            <a:ext cx="34116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Process → DAG + Event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48886" y="2747772"/>
            <a:ext cx="3493922" cy="2275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1" name="Image 1" descr="/Users/ivx/Documents/VLC-Marketing/brief/assets/vlc-flow-mode-2026-04-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034" y="2788920"/>
            <a:ext cx="3411626" cy="21931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13141" y="2377440"/>
            <a:ext cx="34116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→ ER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171993" y="2747772"/>
            <a:ext cx="3493922" cy="242283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4" name="Image 2" descr="/Users/ivx/Documents/VLC-Marketing/brief/assets/vlc-data-panel-2026-04-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141" y="2788920"/>
            <a:ext cx="3411626" cy="23405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6928" y="5074920"/>
            <a:ext cx="11057839" cy="777240"/>
          </a:xfrm>
          <a:prstGeom prst="roundRect">
            <a:avLst>
              <a:gd name="adj" fmla="val 10588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86968" y="5074920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↔ Graph, 1:1 and bidirectional.   </a:t>
            </a:r>
            <a:pPr indent="0" marL="0">
              <a:buNone/>
            </a:pPr>
            <a:r>
              <a:rPr lang="en-US" sz="1400" b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VL IDE is VL Code.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TRUST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“looks right” to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verified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66928" y="24688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Because every build is a DAG, every node can run lint, compile, preview, a test, or a human gate. AI can only debug explicit structure — so debugging becomes structural, not textual. Runs are reproducible and auditable.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45720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“From probability to process.”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98584" y="2468880"/>
            <a:ext cx="1926184" cy="3072384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2468880"/>
            <a:ext cx="5223967" cy="658368"/>
          </a:xfrm>
          <a:prstGeom prst="rect">
            <a:avLst/>
          </a:prstGeom>
          <a:solidFill>
            <a:srgbClr val="0A1526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0" y="2468880"/>
            <a:ext cx="163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Raw LLM chat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99752" y="2468880"/>
            <a:ext cx="161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 — AI in a DAG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10528" y="3127248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55280" y="3127248"/>
            <a:ext cx="163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Unpredictable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899752" y="3127248"/>
            <a:ext cx="1597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Defined by the graph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0" y="3730752"/>
            <a:ext cx="5223967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0528" y="3730752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role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55280" y="3730752"/>
            <a:ext cx="163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Babysit every output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899752" y="3730752"/>
            <a:ext cx="1597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Orchestrate the flow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0" y="4334256"/>
            <a:ext cx="5223967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4334256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Trust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55280" y="4334256"/>
            <a:ext cx="163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“Looks right”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899752" y="4334256"/>
            <a:ext cx="1597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Compile / test / gate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0" y="4937760"/>
            <a:ext cx="5223967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4937760"/>
            <a:ext cx="12070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55280" y="4937760"/>
            <a:ext cx="163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Copy-paste prompts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899752" y="4937760"/>
            <a:ext cx="1597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Components, tools, skills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698584" y="2468880"/>
            <a:ext cx="54864" cy="307238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28" name="Shape 26"/>
          <p:cNvSpPr/>
          <p:nvPr/>
        </p:nvSpPr>
        <p:spPr>
          <a:xfrm>
            <a:off x="9698584" y="2468880"/>
            <a:ext cx="1926184" cy="5486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HARNESS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AI node creates output. </a:t>
            </a:r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DAG harness creates progress.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4800600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1305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 AI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258568" y="215798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many inputs → one powerful output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788920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EAF2F8"/>
          </a:solidFill>
          <a:ln w="12700">
            <a:solidFill>
              <a:srgbClr val="E4EA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862072"/>
            <a:ext cx="960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Prompt</a:t>
            </a:r>
            <a:endParaRPr lang="en-US" sz="760" dirty="0"/>
          </a:p>
        </p:txBody>
      </p:sp>
      <p:sp>
        <p:nvSpPr>
          <p:cNvPr id="11" name="Shape 9"/>
          <p:cNvSpPr/>
          <p:nvPr/>
        </p:nvSpPr>
        <p:spPr>
          <a:xfrm>
            <a:off x="1865376" y="2916936"/>
            <a:ext cx="914400" cy="1609344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77824" y="3209544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EAF2F8"/>
          </a:solidFill>
          <a:ln w="12700">
            <a:solidFill>
              <a:srgbClr val="E4EA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3282696"/>
            <a:ext cx="960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1865376" y="3337560"/>
            <a:ext cx="914400" cy="118872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77824" y="3630168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EAF2F8"/>
          </a:solidFill>
          <a:ln w="12700">
            <a:solidFill>
              <a:srgbClr val="E4EA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3703320"/>
            <a:ext cx="960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1865376" y="3758184"/>
            <a:ext cx="914400" cy="768096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77824" y="4050792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EAF2F8"/>
          </a:solidFill>
          <a:ln w="12700">
            <a:solidFill>
              <a:srgbClr val="E4EA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123944"/>
            <a:ext cx="960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1865376" y="4178808"/>
            <a:ext cx="914400" cy="347472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77824" y="4471416"/>
            <a:ext cx="960120" cy="256032"/>
          </a:xfrm>
          <a:prstGeom prst="roundRect">
            <a:avLst>
              <a:gd name="adj" fmla="val 17857"/>
            </a:avLst>
          </a:prstGeom>
          <a:solidFill>
            <a:srgbClr val="EAF2F8"/>
          </a:solidFill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4544568"/>
            <a:ext cx="9601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Tools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1865376" y="4599432"/>
            <a:ext cx="914400" cy="-73152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852928" y="3483864"/>
            <a:ext cx="1143000" cy="658368"/>
          </a:xfrm>
          <a:prstGeom prst="roundRect">
            <a:avLst>
              <a:gd name="adj" fmla="val 16667"/>
            </a:avLst>
          </a:prstGeom>
          <a:solidFill>
            <a:srgbClr val="0A1526"/>
          </a:solidFill>
          <a:ln w="12700">
            <a:solidFill>
              <a:srgbClr val="0A15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52928" y="3694176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023360" y="3813048"/>
            <a:ext cx="594360" cy="0"/>
          </a:xfrm>
          <a:prstGeom prst="line">
            <a:avLst/>
          </a:prstGeom>
          <a:noFill/>
          <a:ln w="20320">
            <a:solidFill>
              <a:srgbClr val="0E9F9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63440" y="3447288"/>
            <a:ext cx="384048" cy="749808"/>
          </a:xfrm>
          <a:prstGeom prst="roundRect">
            <a:avLst>
              <a:gd name="adj" fmla="val 19048"/>
            </a:avLst>
          </a:prstGeom>
          <a:solidFill>
            <a:srgbClr val="15B3A4"/>
          </a:solidFill>
          <a:ln w="12700">
            <a:solidFill>
              <a:srgbClr val="15B3A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 rot="5400000">
            <a:off x="4572000" y="3749040"/>
            <a:ext cx="56692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969264" y="4837176"/>
            <a:ext cx="3995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Next step is implicit</a:t>
            </a:r>
            <a:endParaRPr lang="en-US" sz="920" dirty="0"/>
          </a:p>
        </p:txBody>
      </p:sp>
      <p:sp>
        <p:nvSpPr>
          <p:cNvPr id="30" name="Text 28"/>
          <p:cNvSpPr/>
          <p:nvPr/>
        </p:nvSpPr>
        <p:spPr>
          <a:xfrm>
            <a:off x="969264" y="5047488"/>
            <a:ext cx="3995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Operator skill dominates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969264" y="5257800"/>
            <a:ext cx="3995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• Run-to-run output drifts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035040" y="1874520"/>
            <a:ext cx="5577840" cy="3611880"/>
          </a:xfrm>
          <a:prstGeom prst="roundRect">
            <a:avLst>
              <a:gd name="adj" fmla="val 2278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345936" y="213055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Harness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46720" y="2157984"/>
            <a:ext cx="3246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inputs, outputs, node types and checkpoints are explicit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82512" y="2898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5664" y="3026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</a:t>
            </a:r>
            <a:endParaRPr lang="en-US" sz="870" dirty="0"/>
          </a:p>
        </p:txBody>
      </p:sp>
      <p:sp>
        <p:nvSpPr>
          <p:cNvPr id="37" name="Text 35"/>
          <p:cNvSpPr/>
          <p:nvPr/>
        </p:nvSpPr>
        <p:spPr>
          <a:xfrm>
            <a:off x="6455664" y="3209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input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7370064" y="3154680"/>
            <a:ext cx="310896" cy="0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680960" y="2898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5B3A4"/>
          </a:solidFill>
          <a:ln w="12700">
            <a:solidFill>
              <a:srgbClr val="15B3A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54112" y="3026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04211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</a:t>
            </a:r>
            <a:endParaRPr lang="en-US" sz="870" dirty="0"/>
          </a:p>
        </p:txBody>
      </p:sp>
      <p:sp>
        <p:nvSpPr>
          <p:cNvPr id="41" name="Text 39"/>
          <p:cNvSpPr/>
          <p:nvPr/>
        </p:nvSpPr>
        <p:spPr>
          <a:xfrm>
            <a:off x="7754112" y="3209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06443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8668512" y="3154680"/>
            <a:ext cx="310896" cy="0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979408" y="2898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52560" y="3026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Contract</a:t>
            </a:r>
            <a:endParaRPr lang="en-US" sz="870" dirty="0"/>
          </a:p>
        </p:txBody>
      </p:sp>
      <p:sp>
        <p:nvSpPr>
          <p:cNvPr id="45" name="Text 43"/>
          <p:cNvSpPr/>
          <p:nvPr/>
        </p:nvSpPr>
        <p:spPr>
          <a:xfrm>
            <a:off x="9052560" y="3209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manifest</a:t>
            </a:r>
            <a:endParaRPr lang="en-US" sz="670" dirty="0"/>
          </a:p>
        </p:txBody>
      </p:sp>
      <p:sp>
        <p:nvSpPr>
          <p:cNvPr id="46" name="Shape 44"/>
          <p:cNvSpPr/>
          <p:nvPr/>
        </p:nvSpPr>
        <p:spPr>
          <a:xfrm>
            <a:off x="9966960" y="3154680"/>
            <a:ext cx="310896" cy="0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0277856" y="2898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5B3A4"/>
          </a:solidFill>
          <a:ln w="12700">
            <a:solidFill>
              <a:srgbClr val="15B3A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351008" y="3026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04211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</a:t>
            </a:r>
            <a:endParaRPr lang="en-US" sz="870" dirty="0"/>
          </a:p>
        </p:txBody>
      </p:sp>
      <p:sp>
        <p:nvSpPr>
          <p:cNvPr id="49" name="Text 47"/>
          <p:cNvSpPr/>
          <p:nvPr/>
        </p:nvSpPr>
        <p:spPr>
          <a:xfrm>
            <a:off x="10351008" y="3209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06443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AI/tool</a:t>
            </a:r>
            <a:endParaRPr lang="en-US" sz="670" dirty="0"/>
          </a:p>
        </p:txBody>
      </p:sp>
      <p:sp>
        <p:nvSpPr>
          <p:cNvPr id="50" name="Shape 48"/>
          <p:cNvSpPr/>
          <p:nvPr/>
        </p:nvSpPr>
        <p:spPr>
          <a:xfrm>
            <a:off x="10771632" y="3410712"/>
            <a:ext cx="0" cy="310896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876288" y="3721608"/>
            <a:ext cx="3895344" cy="0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76288" y="3721608"/>
            <a:ext cx="0" cy="310896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6382512" y="4041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55664" y="4169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455664" y="4352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lint</a:t>
            </a:r>
            <a:endParaRPr lang="en-US" sz="670" dirty="0"/>
          </a:p>
        </p:txBody>
      </p:sp>
      <p:sp>
        <p:nvSpPr>
          <p:cNvPr id="56" name="Shape 54"/>
          <p:cNvSpPr/>
          <p:nvPr/>
        </p:nvSpPr>
        <p:spPr>
          <a:xfrm>
            <a:off x="7370064" y="4297680"/>
            <a:ext cx="310896" cy="0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7680960" y="4041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5B3A4"/>
          </a:solidFill>
          <a:ln w="12700">
            <a:solidFill>
              <a:srgbClr val="15B3A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4112" y="4169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04211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Repair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7754112" y="4352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06443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</a:t>
            </a:r>
            <a:endParaRPr lang="en-US" sz="670" dirty="0"/>
          </a:p>
        </p:txBody>
      </p:sp>
      <p:sp>
        <p:nvSpPr>
          <p:cNvPr id="60" name="Shape 58"/>
          <p:cNvSpPr/>
          <p:nvPr/>
        </p:nvSpPr>
        <p:spPr>
          <a:xfrm>
            <a:off x="8668512" y="4297680"/>
            <a:ext cx="310896" cy="0"/>
          </a:xfrm>
          <a:prstGeom prst="line">
            <a:avLst/>
          </a:prstGeom>
          <a:noFill/>
          <a:ln w="15240">
            <a:solidFill>
              <a:srgbClr val="7FE7DA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8979408" y="4041648"/>
            <a:ext cx="987552" cy="512064"/>
          </a:xfrm>
          <a:prstGeom prst="roundRect">
            <a:avLst>
              <a:gd name="adj" fmla="val 125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0" y="4169664"/>
            <a:ext cx="841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Preview</a:t>
            </a:r>
            <a:endParaRPr lang="en-US" sz="870" dirty="0"/>
          </a:p>
        </p:txBody>
      </p:sp>
      <p:sp>
        <p:nvSpPr>
          <p:cNvPr id="63" name="Text 61"/>
          <p:cNvSpPr/>
          <p:nvPr/>
        </p:nvSpPr>
        <p:spPr>
          <a:xfrm>
            <a:off x="9052560" y="4352544"/>
            <a:ext cx="8412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</a:t>
            </a:r>
            <a:endParaRPr lang="en-US" sz="670" dirty="0"/>
          </a:p>
        </p:txBody>
      </p:sp>
      <p:sp>
        <p:nvSpPr>
          <p:cNvPr id="64" name="Text 62"/>
          <p:cNvSpPr/>
          <p:nvPr/>
        </p:nvSpPr>
        <p:spPr>
          <a:xfrm>
            <a:off x="6419088" y="4873752"/>
            <a:ext cx="4809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DAG makes the AI process programmable: each node knows what to receive, what to produce, how to validate, and where the next step begins.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+ COST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Collaborate without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competing for lines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53003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2880360"/>
            <a:ext cx="457200" cy="73152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017520"/>
            <a:ext cx="466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+ AI, at the component layer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466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 are self-contained units. People and agents both work on structure and merge at the component layer — no fighting over the same lines, no git text-conflicts.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2560320"/>
            <a:ext cx="5300320" cy="2743200"/>
          </a:xfrm>
          <a:prstGeom prst="roundRect">
            <a:avLst>
              <a:gd name="adj" fmla="val 3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44488" y="2880360"/>
            <a:ext cx="457200" cy="73152"/>
          </a:xfrm>
          <a:prstGeom prst="rect">
            <a:avLst/>
          </a:prstGeom>
          <a:solidFill>
            <a:srgbClr val="7FE7DA"/>
          </a:solidFill>
          <a:ln/>
        </p:spPr>
      </p:sp>
      <p:sp>
        <p:nvSpPr>
          <p:cNvPr id="12" name="Text 10"/>
          <p:cNvSpPr/>
          <p:nvPr/>
        </p:nvSpPr>
        <p:spPr>
          <a:xfrm>
            <a:off x="6644488" y="3017520"/>
            <a:ext cx="466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model for every node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4488" y="3611880"/>
            <a:ext cx="466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 expensive models to the hard nodes and cheap models or tools to the routine ones. Capability where it counts, savings everywhere else.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WAY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9728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Local-first. Cloud optional. </a:t>
            </a:r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lock-in.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3442106" cy="2834640"/>
          </a:xfrm>
          <a:prstGeom prst="roundRect">
            <a:avLst>
              <a:gd name="adj" fmla="val 2903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871216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5B3A4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8712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4211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59536" y="3429000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 local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59536" y="4023360"/>
            <a:ext cx="28568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Download &amp; run the IDE on your machine — local read/write + AI, the smoothest path.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74794" y="2560320"/>
            <a:ext cx="3442106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7402" y="2871216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AF2F8"/>
          </a:solidFill>
          <a:ln/>
        </p:spPr>
      </p:sp>
      <p:sp>
        <p:nvSpPr>
          <p:cNvPr id="13" name="Text 11"/>
          <p:cNvSpPr/>
          <p:nvPr/>
        </p:nvSpPr>
        <p:spPr>
          <a:xfrm>
            <a:off x="4667402" y="28712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OPTIONAL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7402" y="3429000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 to cloud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7402" y="4023360"/>
            <a:ext cx="28568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click to managed cloud. Pay-as-you-go compute. Zero server ops.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82661" y="2560320"/>
            <a:ext cx="3442106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75269" y="2871216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EAF2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75269" y="28712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 BINDING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475269" y="3429000"/>
            <a:ext cx="28568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source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475269" y="4023360"/>
            <a:ext cx="28568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 the React + Node source out and self-host anywhere. Full data sovereignty.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62356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the cloud when it helps — walk away with your code whenever you want.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382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·   Tame AI inside a DAG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640080"/>
            <a:ext cx="13960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</p:spPr>
      </p:sp>
      <p:pic>
        <p:nvPicPr>
          <p:cNvPr id="4" name="Image 0" descr="/Users/ivx/Documents/VLC-Marketing/brief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758952"/>
            <a:ext cx="1085203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148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BET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66928" y="25603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Whoever controls the representation layer</a:t>
            </a:r>
            <a:endParaRPr lang="en-US" sz="3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controls the </a:t>
            </a:r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ceiling</a:t>
            </a:r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37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AI's creativity, harnessed — not hoped for. And this is just the beginning.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25780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15B3A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52578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211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5257800"/>
            <a:ext cx="3977640" cy="502920"/>
          </a:xfrm>
          <a:prstGeom prst="roundRect">
            <a:avLst>
              <a:gd name="adj" fmla="val 18182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15968" y="525780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VisualLogic.ai-VL — language &amp; samples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522208" y="5257800"/>
            <a:ext cx="2423160" cy="502920"/>
          </a:xfrm>
          <a:prstGeom prst="roundRect">
            <a:avLst>
              <a:gd name="adj" fmla="val 18182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22208" y="52578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editor.visuallogic.ai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603504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source (MIT) · Local-first · An AI-native development platform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 Master Deck — Tame AI inside a DAG</dc:title>
  <dc:subject>PptxGenJS Presentation</dc:subject>
  <dc:creator>VisualLogic</dc:creator>
  <cp:lastModifiedBy>VisualLogic</cp:lastModifiedBy>
  <cp:revision>1</cp:revision>
  <dcterms:created xsi:type="dcterms:W3CDTF">2026-06-10T04:03:06Z</dcterms:created>
  <dcterms:modified xsi:type="dcterms:W3CDTF">2026-06-10T04:03:06Z</dcterms:modified>
</cp:coreProperties>
</file>