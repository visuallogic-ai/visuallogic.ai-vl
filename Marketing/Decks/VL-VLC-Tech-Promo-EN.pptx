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" y="530352"/>
            <a:ext cx="1232715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/Users/ivx/Documents/VLC-Marketing/brief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30936"/>
            <a:ext cx="976683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5216" y="187452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6EF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 + VLC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85216" y="2331720"/>
            <a:ext cx="6126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AI-native software generation,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controlled by a DAG.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585216" y="461772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6C7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language designed for AI. A local IDE that makes every step visible, verifiable and reusable.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583680" y="2011680"/>
            <a:ext cx="4892040" cy="3177540"/>
          </a:xfrm>
          <a:prstGeom prst="roundRect">
            <a:avLst>
              <a:gd name="adj" fmla="val 1727"/>
            </a:avLst>
          </a:prstGeom>
          <a:solidFill>
            <a:srgbClr val="102947"/>
          </a:solidFill>
          <a:ln w="12700">
            <a:solidFill>
              <a:srgbClr val="2A4868"/>
            </a:solidFill>
            <a:prstDash val="solid"/>
          </a:ln>
        </p:spPr>
      </p:sp>
      <p:pic>
        <p:nvPicPr>
          <p:cNvPr id="9" name="Image 1" descr="/Users/ivx/Documents/VLC-Marketing/brief/assets/vlc-flow-mode-2026-04-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57400"/>
            <a:ext cx="4800600" cy="30861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29400" y="5234940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i="1" dirty="0">
                <a:solidFill>
                  <a:srgbClr val="9CB0C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DAG workflow: generation inside a controllable structure.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73152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217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" y="61264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REAL PROBLEM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85216" y="1124712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B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bottleneck is not model intelligence. It is representation.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85216" y="254203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A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Coding agents are powerful at a point. Real applications are a long chain of decisions. VL changes the structure AI works on; VLC changes the process AI works through.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585216" y="6327648"/>
            <a:ext cx="11021263" cy="0"/>
          </a:xfrm>
          <a:prstGeom prst="line">
            <a:avLst/>
          </a:prstGeom>
          <a:noFill/>
          <a:ln w="12700">
            <a:solidFill>
              <a:srgbClr val="DC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6419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A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VL-Code · Local AI-native IDE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7491679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B7A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6537960" y="1600200"/>
            <a:ext cx="44348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192024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Human + Compiler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12280" y="222199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7A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Old premise: humans write; compilers execute.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537960" y="2788920"/>
            <a:ext cx="4434840" cy="960120"/>
          </a:xfrm>
          <a:prstGeom prst="roundRect">
            <a:avLst>
              <a:gd name="adj" fmla="val 5714"/>
            </a:avLst>
          </a:prstGeom>
          <a:solidFill>
            <a:srgbClr val="061426"/>
          </a:solidFill>
          <a:ln w="12700">
            <a:solidFill>
              <a:srgbClr val="06142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310896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+ Linear Code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12280" y="341071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B6C7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Mismatch: AI must infer structure from text.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537960" y="4297680"/>
            <a:ext cx="4434840" cy="640080"/>
          </a:xfrm>
          <a:prstGeom prst="roundRect">
            <a:avLst>
              <a:gd name="adj" fmla="val 8571"/>
            </a:avLst>
          </a:prstGeom>
          <a:solidFill>
            <a:srgbClr val="EEF4F8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4507992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Answer: change representation and process.</a:t>
            </a:r>
            <a:endParaRPr lang="en-US" sz="9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73152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217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" y="61264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 LANGUAGE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85216" y="1124712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B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 is a programming language designed for AI.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85216" y="254203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A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Compact syntax. Explicit sections. Typed properties, events and methods. A small, stable representation layer that AI can reliably generate, inspect and repair.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400800" y="1463040"/>
            <a:ext cx="5166360" cy="3353889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8" name="Image 0" descr="/Users/ivx/Documents/VLC-Marketing/brief/assets/vlc-code-mode-2026-04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508760"/>
            <a:ext cx="5074920" cy="326244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85216" y="6327648"/>
            <a:ext cx="11021263" cy="0"/>
          </a:xfrm>
          <a:prstGeom prst="line">
            <a:avLst/>
          </a:prstGeom>
          <a:noFill/>
          <a:ln w="12700">
            <a:solidFill>
              <a:srgbClr val="DCE6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5216" y="6419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A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VL-Code · Local AI-native IDE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7491679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B7A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85216" y="4279392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" y="446227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830" dirty="0"/>
          </a:p>
        </p:txBody>
      </p:sp>
      <p:sp>
        <p:nvSpPr>
          <p:cNvPr id="14" name="Text 11"/>
          <p:cNvSpPr/>
          <p:nvPr/>
        </p:nvSpPr>
        <p:spPr>
          <a:xfrm>
            <a:off x="1060704" y="444398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Small syntax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2231136" y="4279392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395728" y="446227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63C3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830" dirty="0"/>
          </a:p>
        </p:txBody>
      </p:sp>
      <p:sp>
        <p:nvSpPr>
          <p:cNvPr id="17" name="Text 14"/>
          <p:cNvSpPr/>
          <p:nvPr/>
        </p:nvSpPr>
        <p:spPr>
          <a:xfrm>
            <a:off x="2706624" y="444398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63C3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Explicit structure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3877056" y="4279392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41648" y="446227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830" dirty="0"/>
          </a:p>
        </p:txBody>
      </p:sp>
      <p:sp>
        <p:nvSpPr>
          <p:cNvPr id="20" name="Text 17"/>
          <p:cNvSpPr/>
          <p:nvPr/>
        </p:nvSpPr>
        <p:spPr>
          <a:xfrm>
            <a:off x="4352544" y="444398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Compilable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73152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217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" y="61264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85216" y="1124712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B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 decoupling makes parallel generation possible.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85216" y="254203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A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App, Section, Service, Component and Theme are separated by responsibility. Frontend modules and backend capabilities can be generated concurrently, then assembled through explicit interfaces.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585216" y="6327648"/>
            <a:ext cx="11021263" cy="0"/>
          </a:xfrm>
          <a:prstGeom prst="line">
            <a:avLst/>
          </a:prstGeom>
          <a:noFill/>
          <a:ln w="12700">
            <a:solidFill>
              <a:srgbClr val="DC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6419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A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VL-Code · Local AI-native IDE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7491679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B7A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6400800" y="1508760"/>
            <a:ext cx="40690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1968" y="1664208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601968" y="2221992"/>
            <a:ext cx="381304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03136" y="2377440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803136" y="2935224"/>
            <a:ext cx="3557016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04304" y="309067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Service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7004304" y="3648456"/>
            <a:ext cx="3300984" cy="475488"/>
          </a:xfrm>
          <a:prstGeom prst="roundRect">
            <a:avLst>
              <a:gd name="adj" fmla="val 11538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05472" y="380390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63C3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Component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7205472" y="4361688"/>
            <a:ext cx="304495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4517136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Theme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565392" y="5349240"/>
            <a:ext cx="3931920" cy="320040"/>
          </a:xfrm>
          <a:prstGeom prst="roundRect">
            <a:avLst>
              <a:gd name="adj" fmla="val 17143"/>
            </a:avLst>
          </a:prstGeom>
          <a:solidFill>
            <a:srgbClr val="EEF4F8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5392" y="5440680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Decouple → parallelize → assemble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73152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217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" y="61264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COMPONENT PROGRAMMING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85216" y="109728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Frontend and backend are both components.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85216" y="2505456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A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component is the stable unit of programming. Every component exposes properties, events and methods, which gives agents a precise interface for search, wiring and reuse.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812280" y="1737360"/>
            <a:ext cx="3200400" cy="3200400"/>
          </a:xfrm>
          <a:prstGeom prst="arc">
            <a:avLst/>
          </a:prstGeom>
          <a:solidFill>
            <a:srgbClr val="F7FAFC">
              <a:alpha val="0"/>
            </a:srgbClr>
          </a:solidFill>
          <a:ln w="25400">
            <a:solidFill>
              <a:srgbClr val="DCE6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54112" y="2944368"/>
            <a:ext cx="1316736" cy="786384"/>
          </a:xfrm>
          <a:prstGeom prst="roundRect">
            <a:avLst>
              <a:gd name="adj" fmla="val 6977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82128" y="3227832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1828800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2E6DD8"/>
          </a:solidFill>
          <a:ln w="12700">
            <a:solidFill>
              <a:srgbClr val="2E6DD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79008" y="2002536"/>
            <a:ext cx="11064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Properties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327648" y="2331720"/>
            <a:ext cx="2084832" cy="1005840"/>
          </a:xfrm>
          <a:prstGeom prst="line">
            <a:avLst/>
          </a:prstGeom>
          <a:noFill/>
          <a:ln w="20320">
            <a:solidFill>
              <a:srgbClr val="2E6DD8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29800" y="1828800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39528" y="2002536"/>
            <a:ext cx="11064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Events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10488168" y="2331720"/>
            <a:ext cx="-2075688" cy="1005840"/>
          </a:xfrm>
          <a:prstGeom prst="line">
            <a:avLst/>
          </a:prstGeom>
          <a:noFill/>
          <a:ln w="20320">
            <a:solidFill>
              <a:srgbClr val="F4B942">
                <a:alpha val="9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54112" y="4965192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22B573"/>
          </a:solidFill>
          <a:ln w="12700">
            <a:solidFill>
              <a:srgbClr val="22B57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5138928"/>
            <a:ext cx="11064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Methods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8412480" y="5468112"/>
            <a:ext cx="0" cy="-2130552"/>
          </a:xfrm>
          <a:prstGeom prst="line">
            <a:avLst/>
          </a:prstGeom>
          <a:noFill/>
          <a:ln w="20320">
            <a:solidFill>
              <a:srgbClr val="22B573">
                <a:alpha val="9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" y="5074920"/>
            <a:ext cx="4572000" cy="320040"/>
          </a:xfrm>
          <a:prstGeom prst="roundRect">
            <a:avLst>
              <a:gd name="adj" fmla="val 17143"/>
            </a:avLst>
          </a:prstGeom>
          <a:solidFill>
            <a:srgbClr val="EEF4F8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5166360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Stable interfaces are what agents need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585216" y="6327648"/>
            <a:ext cx="11021263" cy="0"/>
          </a:xfrm>
          <a:prstGeom prst="line">
            <a:avLst/>
          </a:prstGeom>
          <a:noFill/>
          <a:ln w="12700">
            <a:solidFill>
              <a:srgbClr val="DCE6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" y="6419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A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VL-Code · Local AI-native IDE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7491679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B7A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73152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217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6EF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" y="61264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6EF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COMPONENT FACTORY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85216" y="1124712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factory turns compute into reusable engineering assets.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85216" y="254203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B6C7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16,000+ components are searchable, installable and verifiable. A component is not just a visual block; it carries an installation contract that a workflow can consume.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585216" y="6327648"/>
            <a:ext cx="11021263" cy="0"/>
          </a:xfrm>
          <a:prstGeom prst="line">
            <a:avLst/>
          </a:prstGeom>
          <a:noFill/>
          <a:ln w="12700">
            <a:solidFill>
              <a:srgbClr val="2440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6419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CB0C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VL-Code · Local AI-native IDE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7491679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9CB0C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6400800" y="187452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6EF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16K+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0" y="2359152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FC0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973568" y="187452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6EF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P/M/E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973568" y="2359152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FC0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interfaces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546336" y="187452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6EF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546336" y="2359152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FC0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consumption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46520" y="370332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102947"/>
          </a:solidFill>
          <a:ln w="12700">
            <a:solidFill>
              <a:srgbClr val="2A48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3886200"/>
            <a:ext cx="9052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Generate once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7498080" y="3950208"/>
            <a:ext cx="310896" cy="0"/>
          </a:xfrm>
          <a:prstGeom prst="line">
            <a:avLst/>
          </a:prstGeom>
          <a:noFill/>
          <a:ln w="20320">
            <a:solidFill>
              <a:srgbClr val="86EFE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863840" y="370332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36992" y="3886200"/>
            <a:ext cx="9052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63C3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Store as component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8915400" y="3950208"/>
            <a:ext cx="310896" cy="0"/>
          </a:xfrm>
          <a:prstGeom prst="line">
            <a:avLst/>
          </a:prstGeom>
          <a:noFill/>
          <a:ln w="20320">
            <a:solidFill>
              <a:srgbClr val="86EFE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281160" y="370332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102947"/>
          </a:solidFill>
          <a:ln w="12700">
            <a:solidFill>
              <a:srgbClr val="2A48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54312" y="3886200"/>
            <a:ext cx="9052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Load on demand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6446520" y="4956048"/>
            <a:ext cx="4160520" cy="320040"/>
          </a:xfrm>
          <a:prstGeom prst="roundRect">
            <a:avLst>
              <a:gd name="adj" fmla="val 17143"/>
            </a:avLst>
          </a:prstGeom>
          <a:solidFill>
            <a:srgbClr val="102947"/>
          </a:solidFill>
          <a:ln w="12700">
            <a:solidFill>
              <a:srgbClr val="2A48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5047488"/>
            <a:ext cx="4160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86EF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Compute becomes installable capability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73152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217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" y="61264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VLC IDE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85216" y="1124712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B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local IDE built for VL + AI.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85216" y="254203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A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feels familiar like VS Code, but the native surfaces are visual: code, logic, map, DAG, data, theme and AI workflow all live in one local workspace.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400800" y="1463040"/>
            <a:ext cx="5166360" cy="3353889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8" name="Image 0" descr="/Users/ivx/Documents/VLC-Marketing/brief/assets/vlc-map-mode-2026-04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508760"/>
            <a:ext cx="5074920" cy="326244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85216" y="6327648"/>
            <a:ext cx="11021263" cy="0"/>
          </a:xfrm>
          <a:prstGeom prst="line">
            <a:avLst/>
          </a:prstGeom>
          <a:noFill/>
          <a:ln w="12700">
            <a:solidFill>
              <a:srgbClr val="DCE6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5216" y="6419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A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VL-Code · Local AI-native IDE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7491679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B7A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73152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217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" y="61264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VISUALIZATION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B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hidden layer becomes visible.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85216" y="199339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63A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Event Panel shows logic. Map shows layered relationships. DAG shows the generation process itself. The IDE is a projection of the language, not a skin over text.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539496" y="2697480"/>
            <a:ext cx="3337560" cy="2318429"/>
          </a:xfrm>
          <a:prstGeom prst="roundRect">
            <a:avLst>
              <a:gd name="adj" fmla="val 236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8" name="Image 0" descr="/Users/ivx/Documents/VLC-Marketing/brief/assets/vlc-logic-panel-2026-04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2743200"/>
            <a:ext cx="3246120" cy="222698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5216" y="5061629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i="1" dirty="0">
                <a:solidFill>
                  <a:srgbClr val="6B7A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Event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4334256" y="2697480"/>
            <a:ext cx="3337560" cy="2178231"/>
          </a:xfrm>
          <a:prstGeom prst="roundRect">
            <a:avLst>
              <a:gd name="adj" fmla="val 251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11" name="Image 1" descr="/Users/ivx/Documents/VLC-Marketing/brief/assets/vlc-map-mode-2026-04-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2743200"/>
            <a:ext cx="3246120" cy="2086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79976" y="4921431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i="1" dirty="0">
                <a:solidFill>
                  <a:srgbClr val="6B7A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Map</a:t>
            </a:r>
            <a:endParaRPr lang="en-US" sz="820" dirty="0"/>
          </a:p>
        </p:txBody>
      </p:sp>
      <p:sp>
        <p:nvSpPr>
          <p:cNvPr id="13" name="Shape 9"/>
          <p:cNvSpPr/>
          <p:nvPr/>
        </p:nvSpPr>
        <p:spPr>
          <a:xfrm>
            <a:off x="8129016" y="2697480"/>
            <a:ext cx="3337560" cy="2178231"/>
          </a:xfrm>
          <a:prstGeom prst="roundRect">
            <a:avLst>
              <a:gd name="adj" fmla="val 251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14" name="Image 2" descr="/Users/ivx/Documents/VLC-Marketing/brief/assets/vlc-flow-mode-2026-04-1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2743200"/>
            <a:ext cx="3246120" cy="208679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74736" y="4921431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i="1" dirty="0">
                <a:solidFill>
                  <a:srgbClr val="6B7A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DAG</a:t>
            </a:r>
            <a:endParaRPr lang="en-US" sz="820" dirty="0"/>
          </a:p>
        </p:txBody>
      </p:sp>
      <p:sp>
        <p:nvSpPr>
          <p:cNvPr id="16" name="Shape 11"/>
          <p:cNvSpPr/>
          <p:nvPr/>
        </p:nvSpPr>
        <p:spPr>
          <a:xfrm>
            <a:off x="585216" y="6327648"/>
            <a:ext cx="11021263" cy="0"/>
          </a:xfrm>
          <a:prstGeom prst="line">
            <a:avLst/>
          </a:prstGeom>
          <a:noFill/>
          <a:ln w="12700">
            <a:solidFill>
              <a:srgbClr val="DCE6EE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85216" y="6419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A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VL-Code · Local AI-native IDE</a:t>
            </a:r>
            <a:endParaRPr lang="en-US" sz="820" dirty="0"/>
          </a:p>
        </p:txBody>
      </p:sp>
      <p:sp>
        <p:nvSpPr>
          <p:cNvPr id="18" name="Text 13"/>
          <p:cNvSpPr/>
          <p:nvPr/>
        </p:nvSpPr>
        <p:spPr>
          <a:xfrm>
            <a:off x="7491679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B7A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73152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217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6EF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" y="61264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6EF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DAG CORE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85216" y="1124712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DAG is the mechanism that tames AI.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85216" y="254203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B6C7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Creativity lives inside nodes. Determinism lives in edges. Each node has inputs, outputs, checks, retries and human gates, so the result stays inside the designer's intent.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585216" y="6327648"/>
            <a:ext cx="11021263" cy="0"/>
          </a:xfrm>
          <a:prstGeom prst="line">
            <a:avLst/>
          </a:prstGeom>
          <a:noFill/>
          <a:ln w="12700">
            <a:solidFill>
              <a:srgbClr val="2440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6419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CB0C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VL-Code · Local AI-native IDE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7491679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9CB0C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868680" cy="475488"/>
          </a:xfrm>
          <a:prstGeom prst="roundRect">
            <a:avLst>
              <a:gd name="adj" fmla="val 11538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2130552"/>
            <a:ext cx="722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3C3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7132320" y="2203704"/>
            <a:ext cx="201168" cy="0"/>
          </a:xfrm>
          <a:prstGeom prst="line">
            <a:avLst/>
          </a:prstGeom>
          <a:noFill/>
          <a:ln w="16510">
            <a:solidFill>
              <a:srgbClr val="86EFE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97496" y="1965960"/>
            <a:ext cx="868680" cy="475488"/>
          </a:xfrm>
          <a:prstGeom prst="roundRect">
            <a:avLst>
              <a:gd name="adj" fmla="val 11538"/>
            </a:avLst>
          </a:prstGeom>
          <a:solidFill>
            <a:srgbClr val="102947"/>
          </a:solidFill>
          <a:ln w="12700">
            <a:solidFill>
              <a:srgbClr val="2A48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70648" y="2130552"/>
            <a:ext cx="722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8266176" y="2203704"/>
            <a:ext cx="201168" cy="0"/>
          </a:xfrm>
          <a:prstGeom prst="line">
            <a:avLst/>
          </a:prstGeom>
          <a:noFill/>
          <a:ln w="16510">
            <a:solidFill>
              <a:srgbClr val="86EFE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531352" y="1965960"/>
            <a:ext cx="868680" cy="475488"/>
          </a:xfrm>
          <a:prstGeom prst="roundRect">
            <a:avLst>
              <a:gd name="adj" fmla="val 11538"/>
            </a:avLst>
          </a:prstGeom>
          <a:solidFill>
            <a:srgbClr val="102947"/>
          </a:solidFill>
          <a:ln w="12700">
            <a:solidFill>
              <a:srgbClr val="2A48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04504" y="2130552"/>
            <a:ext cx="722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Search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9400032" y="2203704"/>
            <a:ext cx="201168" cy="0"/>
          </a:xfrm>
          <a:prstGeom prst="line">
            <a:avLst/>
          </a:prstGeom>
          <a:noFill/>
          <a:ln w="16510">
            <a:solidFill>
              <a:srgbClr val="86EFE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65208" y="1965960"/>
            <a:ext cx="868680" cy="475488"/>
          </a:xfrm>
          <a:prstGeom prst="roundRect">
            <a:avLst>
              <a:gd name="adj" fmla="val 11538"/>
            </a:avLst>
          </a:prstGeom>
          <a:solidFill>
            <a:srgbClr val="102947"/>
          </a:solidFill>
          <a:ln w="12700">
            <a:solidFill>
              <a:srgbClr val="2A48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38360" y="2130552"/>
            <a:ext cx="722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Install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0533888" y="2203704"/>
            <a:ext cx="201168" cy="0"/>
          </a:xfrm>
          <a:prstGeom prst="line">
            <a:avLst/>
          </a:prstGeom>
          <a:noFill/>
          <a:ln w="16510">
            <a:solidFill>
              <a:srgbClr val="86EFE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263640" y="2880360"/>
            <a:ext cx="868680" cy="475488"/>
          </a:xfrm>
          <a:prstGeom prst="roundRect">
            <a:avLst>
              <a:gd name="adj" fmla="val 11538"/>
            </a:avLst>
          </a:prstGeom>
          <a:solidFill>
            <a:srgbClr val="102947"/>
          </a:solidFill>
          <a:ln w="12700">
            <a:solidFill>
              <a:srgbClr val="2A48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36792" y="3044952"/>
            <a:ext cx="722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132320" y="3118104"/>
            <a:ext cx="201168" cy="0"/>
          </a:xfrm>
          <a:prstGeom prst="line">
            <a:avLst/>
          </a:prstGeom>
          <a:noFill/>
          <a:ln w="16510">
            <a:solidFill>
              <a:srgbClr val="86EFE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397496" y="2880360"/>
            <a:ext cx="868680" cy="475488"/>
          </a:xfrm>
          <a:prstGeom prst="roundRect">
            <a:avLst>
              <a:gd name="adj" fmla="val 11538"/>
            </a:avLst>
          </a:prstGeom>
          <a:solidFill>
            <a:srgbClr val="102947"/>
          </a:solidFill>
          <a:ln w="12700">
            <a:solidFill>
              <a:srgbClr val="2A48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70648" y="3044952"/>
            <a:ext cx="722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Fix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266176" y="3118104"/>
            <a:ext cx="201168" cy="0"/>
          </a:xfrm>
          <a:prstGeom prst="line">
            <a:avLst/>
          </a:prstGeom>
          <a:noFill/>
          <a:ln w="16510">
            <a:solidFill>
              <a:srgbClr val="86EFE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531352" y="2880360"/>
            <a:ext cx="868680" cy="475488"/>
          </a:xfrm>
          <a:prstGeom prst="roundRect">
            <a:avLst>
              <a:gd name="adj" fmla="val 11538"/>
            </a:avLst>
          </a:prstGeom>
          <a:solidFill>
            <a:srgbClr val="102947"/>
          </a:solidFill>
          <a:ln w="12700">
            <a:solidFill>
              <a:srgbClr val="2A48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04504" y="3044952"/>
            <a:ext cx="722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Preview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9400032" y="3118104"/>
            <a:ext cx="201168" cy="0"/>
          </a:xfrm>
          <a:prstGeom prst="line">
            <a:avLst/>
          </a:prstGeom>
          <a:noFill/>
          <a:ln w="16510">
            <a:solidFill>
              <a:srgbClr val="86EFE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665208" y="2880360"/>
            <a:ext cx="868680" cy="475488"/>
          </a:xfrm>
          <a:prstGeom prst="roundRect">
            <a:avLst>
              <a:gd name="adj" fmla="val 11538"/>
            </a:avLst>
          </a:prstGeom>
          <a:solidFill>
            <a:srgbClr val="102947"/>
          </a:solidFill>
          <a:ln w="12700">
            <a:solidFill>
              <a:srgbClr val="2A48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38360" y="3044952"/>
            <a:ext cx="722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Ship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263640" y="4407408"/>
            <a:ext cx="4526280" cy="320040"/>
          </a:xfrm>
          <a:prstGeom prst="roundRect">
            <a:avLst>
              <a:gd name="adj" fmla="val 17143"/>
            </a:avLst>
          </a:prstGeom>
          <a:solidFill>
            <a:srgbClr val="102947"/>
          </a:solidFill>
          <a:ln w="12700">
            <a:solidFill>
              <a:srgbClr val="2A48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4498848"/>
            <a:ext cx="4526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86EF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Creativity in nodes. Determinism in edges.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73152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217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" y="61264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 COMPARISON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85216" y="1124712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B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Point I/O agents answer. DAG agents orchestrate.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85216" y="254203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A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Most agents produce one unpredictable output at a time. VLC turns the whole build into a visible program, where models, tools and checks cooperate node by node.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585216" y="6327648"/>
            <a:ext cx="11021263" cy="0"/>
          </a:xfrm>
          <a:prstGeom prst="line">
            <a:avLst/>
          </a:prstGeom>
          <a:noFill/>
          <a:ln w="12700">
            <a:solidFill>
              <a:srgbClr val="DC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6419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A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VL-Code · Local AI-native IDE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7491679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B7A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6400800" y="1645920"/>
            <a:ext cx="1965960" cy="269748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6832" y="19385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45E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Point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56832" y="26974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single I/O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unpredictable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23960" y="1645920"/>
            <a:ext cx="2148840" cy="2697480"/>
          </a:xfrm>
          <a:prstGeom prst="roundRect">
            <a:avLst>
              <a:gd name="adj" fmla="val 2553"/>
            </a:avLst>
          </a:prstGeom>
          <a:solidFill>
            <a:srgbClr val="061426"/>
          </a:solidFill>
          <a:ln w="12700">
            <a:solidFill>
              <a:srgbClr val="06142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19385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6EF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098280" y="26974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6C7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whole process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6C7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orchestrated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366760" y="2999232"/>
            <a:ext cx="4572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73152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217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" y="61264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DAG HARNESS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85216" y="1078992"/>
            <a:ext cx="6492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Point AI creates output. A DAG harness creates progress.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85216" y="2148840"/>
            <a:ext cx="5257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A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single AI node can absorb many inputs and produce a powerful result. But a complex system is never finished in one step; next steps, validation and repair must be structured.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585216" y="3337560"/>
            <a:ext cx="4800600" cy="2084832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53872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Single AI node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41248" y="3995928"/>
            <a:ext cx="822960" cy="210312"/>
          </a:xfrm>
          <a:prstGeom prst="roundRect">
            <a:avLst>
              <a:gd name="adj" fmla="val 26087"/>
            </a:avLst>
          </a:prstGeom>
          <a:solidFill>
            <a:srgbClr val="EEF4F8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4064508"/>
            <a:ext cx="82296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63A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Prompt</a:t>
            </a:r>
            <a:endParaRPr lang="en-US" sz="620" dirty="0"/>
          </a:p>
        </p:txBody>
      </p:sp>
      <p:sp>
        <p:nvSpPr>
          <p:cNvPr id="11" name="Shape 9"/>
          <p:cNvSpPr/>
          <p:nvPr/>
        </p:nvSpPr>
        <p:spPr>
          <a:xfrm>
            <a:off x="1700784" y="4096512"/>
            <a:ext cx="932688" cy="512064"/>
          </a:xfrm>
          <a:prstGeom prst="line">
            <a:avLst/>
          </a:prstGeom>
          <a:noFill/>
          <a:ln w="12700">
            <a:solidFill>
              <a:srgbClr val="DCE6E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41248" y="4306824"/>
            <a:ext cx="822960" cy="210312"/>
          </a:xfrm>
          <a:prstGeom prst="roundRect">
            <a:avLst>
              <a:gd name="adj" fmla="val 26087"/>
            </a:avLst>
          </a:prstGeom>
          <a:solidFill>
            <a:srgbClr val="EEF4F8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4375404"/>
            <a:ext cx="82296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63A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Docs</a:t>
            </a:r>
            <a:endParaRPr lang="en-US" sz="620" dirty="0"/>
          </a:p>
        </p:txBody>
      </p:sp>
      <p:sp>
        <p:nvSpPr>
          <p:cNvPr id="14" name="Shape 12"/>
          <p:cNvSpPr/>
          <p:nvPr/>
        </p:nvSpPr>
        <p:spPr>
          <a:xfrm>
            <a:off x="1700784" y="4407408"/>
            <a:ext cx="932688" cy="365760"/>
          </a:xfrm>
          <a:prstGeom prst="line">
            <a:avLst/>
          </a:prstGeom>
          <a:noFill/>
          <a:ln w="12700">
            <a:solidFill>
              <a:srgbClr val="DCE6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41248" y="4617720"/>
            <a:ext cx="822960" cy="210312"/>
          </a:xfrm>
          <a:prstGeom prst="roundRect">
            <a:avLst>
              <a:gd name="adj" fmla="val 26087"/>
            </a:avLst>
          </a:prstGeom>
          <a:solidFill>
            <a:srgbClr val="EEF4F8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686300"/>
            <a:ext cx="82296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63A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Code</a:t>
            </a:r>
            <a:endParaRPr lang="en-US" sz="620" dirty="0"/>
          </a:p>
        </p:txBody>
      </p:sp>
      <p:sp>
        <p:nvSpPr>
          <p:cNvPr id="17" name="Shape 15"/>
          <p:cNvSpPr/>
          <p:nvPr/>
        </p:nvSpPr>
        <p:spPr>
          <a:xfrm>
            <a:off x="1700784" y="4718304"/>
            <a:ext cx="932688" cy="219456"/>
          </a:xfrm>
          <a:prstGeom prst="line">
            <a:avLst/>
          </a:prstGeom>
          <a:noFill/>
          <a:ln w="12700">
            <a:solidFill>
              <a:srgbClr val="DCE6E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41248" y="4928616"/>
            <a:ext cx="822960" cy="210312"/>
          </a:xfrm>
          <a:prstGeom prst="roundRect">
            <a:avLst>
              <a:gd name="adj" fmla="val 26087"/>
            </a:avLst>
          </a:prstGeom>
          <a:solidFill>
            <a:srgbClr val="EEF4F8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4997196"/>
            <a:ext cx="82296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63A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1700784" y="5029200"/>
            <a:ext cx="932688" cy="73152"/>
          </a:xfrm>
          <a:prstGeom prst="line">
            <a:avLst/>
          </a:prstGeom>
          <a:noFill/>
          <a:ln w="12700">
            <a:solidFill>
              <a:srgbClr val="DCE6E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761488" y="4325112"/>
            <a:ext cx="786384" cy="502920"/>
          </a:xfrm>
          <a:prstGeom prst="roundRect">
            <a:avLst>
              <a:gd name="adj" fmla="val 10909"/>
            </a:avLst>
          </a:prstGeom>
          <a:solidFill>
            <a:srgbClr val="061426"/>
          </a:solidFill>
          <a:ln w="12700">
            <a:solidFill>
              <a:srgbClr val="06142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61488" y="4498848"/>
            <a:ext cx="7863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6EF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584448" y="4572000"/>
            <a:ext cx="475488" cy="0"/>
          </a:xfrm>
          <a:prstGeom prst="line">
            <a:avLst/>
          </a:prstGeom>
          <a:noFill/>
          <a:ln w="2032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151376" y="4270248"/>
            <a:ext cx="868680" cy="621792"/>
          </a:xfrm>
          <a:prstGeom prst="roundRect">
            <a:avLst>
              <a:gd name="adj" fmla="val 8824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42816" y="4480560"/>
            <a:ext cx="685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3C3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Output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841248" y="5093208"/>
            <a:ext cx="4288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6B7A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unstable next step · expert operator required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5897880" y="3337560"/>
            <a:ext cx="5687568" cy="2084832"/>
          </a:xfrm>
          <a:prstGeom prst="roundRect">
            <a:avLst>
              <a:gd name="adj" fmla="val 2632"/>
            </a:avLst>
          </a:prstGeom>
          <a:solidFill>
            <a:srgbClr val="061426"/>
          </a:solidFill>
          <a:ln w="12700">
            <a:solidFill>
              <a:srgbClr val="06142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35624" y="353872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DAG Harness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53912" y="4187952"/>
            <a:ext cx="676656" cy="530352"/>
          </a:xfrm>
          <a:prstGeom prst="roundRect">
            <a:avLst>
              <a:gd name="adj" fmla="val 10345"/>
            </a:avLst>
          </a:prstGeom>
          <a:solidFill>
            <a:srgbClr val="102947"/>
          </a:solidFill>
          <a:ln w="12700">
            <a:solidFill>
              <a:srgbClr val="2A48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9632" y="4325112"/>
            <a:ext cx="5852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Intent</a:t>
            </a:r>
            <a:endParaRPr lang="en-US" sz="620" dirty="0"/>
          </a:p>
        </p:txBody>
      </p:sp>
      <p:sp>
        <p:nvSpPr>
          <p:cNvPr id="31" name="Text 29"/>
          <p:cNvSpPr/>
          <p:nvPr/>
        </p:nvSpPr>
        <p:spPr>
          <a:xfrm>
            <a:off x="6199632" y="4498848"/>
            <a:ext cx="5852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9CB0C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</a:t>
            </a:r>
            <a:endParaRPr lang="en-US" sz="540" dirty="0"/>
          </a:p>
        </p:txBody>
      </p:sp>
      <p:sp>
        <p:nvSpPr>
          <p:cNvPr id="32" name="Shape 30"/>
          <p:cNvSpPr/>
          <p:nvPr/>
        </p:nvSpPr>
        <p:spPr>
          <a:xfrm>
            <a:off x="6830568" y="4453128"/>
            <a:ext cx="182880" cy="0"/>
          </a:xfrm>
          <a:prstGeom prst="line">
            <a:avLst/>
          </a:prstGeom>
          <a:noFill/>
          <a:ln w="15240">
            <a:solidFill>
              <a:srgbClr val="86EFE3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013448" y="4187952"/>
            <a:ext cx="676656" cy="530352"/>
          </a:xfrm>
          <a:prstGeom prst="roundRect">
            <a:avLst>
              <a:gd name="adj" fmla="val 10345"/>
            </a:avLst>
          </a:prstGeom>
          <a:solidFill>
            <a:srgbClr val="102947"/>
          </a:solidFill>
          <a:ln w="12700">
            <a:solidFill>
              <a:srgbClr val="2A48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59168" y="4325112"/>
            <a:ext cx="5852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Manifest</a:t>
            </a:r>
            <a:endParaRPr lang="en-US" sz="620" dirty="0"/>
          </a:p>
        </p:txBody>
      </p:sp>
      <p:sp>
        <p:nvSpPr>
          <p:cNvPr id="35" name="Text 33"/>
          <p:cNvSpPr/>
          <p:nvPr/>
        </p:nvSpPr>
        <p:spPr>
          <a:xfrm>
            <a:off x="7059168" y="4498848"/>
            <a:ext cx="5852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9CB0C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contract</a:t>
            </a:r>
            <a:endParaRPr lang="en-US" sz="540" dirty="0"/>
          </a:p>
        </p:txBody>
      </p:sp>
      <p:sp>
        <p:nvSpPr>
          <p:cNvPr id="36" name="Shape 34"/>
          <p:cNvSpPr/>
          <p:nvPr/>
        </p:nvSpPr>
        <p:spPr>
          <a:xfrm>
            <a:off x="7690104" y="4453128"/>
            <a:ext cx="182880" cy="0"/>
          </a:xfrm>
          <a:prstGeom prst="line">
            <a:avLst/>
          </a:prstGeom>
          <a:noFill/>
          <a:ln w="15240">
            <a:solidFill>
              <a:srgbClr val="86EFE3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872984" y="4187952"/>
            <a:ext cx="676656" cy="530352"/>
          </a:xfrm>
          <a:prstGeom prst="roundRect">
            <a:avLst>
              <a:gd name="adj" fmla="val 10345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18704" y="4325112"/>
            <a:ext cx="5852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63C3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Generate</a:t>
            </a:r>
            <a:endParaRPr lang="en-US" sz="620" dirty="0"/>
          </a:p>
        </p:txBody>
      </p:sp>
      <p:sp>
        <p:nvSpPr>
          <p:cNvPr id="39" name="Text 37"/>
          <p:cNvSpPr/>
          <p:nvPr/>
        </p:nvSpPr>
        <p:spPr>
          <a:xfrm>
            <a:off x="7918704" y="4498848"/>
            <a:ext cx="5852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063C3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540" dirty="0"/>
          </a:p>
        </p:txBody>
      </p:sp>
      <p:sp>
        <p:nvSpPr>
          <p:cNvPr id="40" name="Shape 38"/>
          <p:cNvSpPr/>
          <p:nvPr/>
        </p:nvSpPr>
        <p:spPr>
          <a:xfrm>
            <a:off x="8549640" y="4453128"/>
            <a:ext cx="182880" cy="0"/>
          </a:xfrm>
          <a:prstGeom prst="line">
            <a:avLst/>
          </a:prstGeom>
          <a:noFill/>
          <a:ln w="15240">
            <a:solidFill>
              <a:srgbClr val="86EFE3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732520" y="4187952"/>
            <a:ext cx="676656" cy="530352"/>
          </a:xfrm>
          <a:prstGeom prst="roundRect">
            <a:avLst>
              <a:gd name="adj" fmla="val 10345"/>
            </a:avLst>
          </a:prstGeom>
          <a:solidFill>
            <a:srgbClr val="102947"/>
          </a:solidFill>
          <a:ln w="12700">
            <a:solidFill>
              <a:srgbClr val="2A486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78240" y="4325112"/>
            <a:ext cx="5852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</a:t>
            </a:r>
            <a:endParaRPr lang="en-US" sz="620" dirty="0"/>
          </a:p>
        </p:txBody>
      </p:sp>
      <p:sp>
        <p:nvSpPr>
          <p:cNvPr id="43" name="Text 41"/>
          <p:cNvSpPr/>
          <p:nvPr/>
        </p:nvSpPr>
        <p:spPr>
          <a:xfrm>
            <a:off x="8778240" y="4498848"/>
            <a:ext cx="5852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9CB0C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lint</a:t>
            </a:r>
            <a:endParaRPr lang="en-US" sz="540" dirty="0"/>
          </a:p>
        </p:txBody>
      </p:sp>
      <p:sp>
        <p:nvSpPr>
          <p:cNvPr id="44" name="Shape 42"/>
          <p:cNvSpPr/>
          <p:nvPr/>
        </p:nvSpPr>
        <p:spPr>
          <a:xfrm>
            <a:off x="9409176" y="4453128"/>
            <a:ext cx="182880" cy="0"/>
          </a:xfrm>
          <a:prstGeom prst="line">
            <a:avLst/>
          </a:prstGeom>
          <a:noFill/>
          <a:ln w="15240">
            <a:solidFill>
              <a:srgbClr val="86EFE3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592056" y="4187952"/>
            <a:ext cx="676656" cy="530352"/>
          </a:xfrm>
          <a:prstGeom prst="roundRect">
            <a:avLst>
              <a:gd name="adj" fmla="val 10345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37776" y="4325112"/>
            <a:ext cx="5852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63C3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Repair</a:t>
            </a:r>
            <a:endParaRPr lang="en-US" sz="620" dirty="0"/>
          </a:p>
        </p:txBody>
      </p:sp>
      <p:sp>
        <p:nvSpPr>
          <p:cNvPr id="47" name="Text 45"/>
          <p:cNvSpPr/>
          <p:nvPr/>
        </p:nvSpPr>
        <p:spPr>
          <a:xfrm>
            <a:off x="9637776" y="4498848"/>
            <a:ext cx="5852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063C3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540" dirty="0"/>
          </a:p>
        </p:txBody>
      </p:sp>
      <p:sp>
        <p:nvSpPr>
          <p:cNvPr id="48" name="Shape 46"/>
          <p:cNvSpPr/>
          <p:nvPr/>
        </p:nvSpPr>
        <p:spPr>
          <a:xfrm>
            <a:off x="10268712" y="4453128"/>
            <a:ext cx="182880" cy="0"/>
          </a:xfrm>
          <a:prstGeom prst="line">
            <a:avLst/>
          </a:prstGeom>
          <a:noFill/>
          <a:ln w="15240">
            <a:solidFill>
              <a:srgbClr val="86EFE3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0451592" y="4187952"/>
            <a:ext cx="676656" cy="530352"/>
          </a:xfrm>
          <a:prstGeom prst="roundRect">
            <a:avLst>
              <a:gd name="adj" fmla="val 10345"/>
            </a:avLst>
          </a:prstGeom>
          <a:solidFill>
            <a:srgbClr val="102947"/>
          </a:solidFill>
          <a:ln w="12700">
            <a:solidFill>
              <a:srgbClr val="2A486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497312" y="4325112"/>
            <a:ext cx="5852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Preview</a:t>
            </a:r>
            <a:endParaRPr lang="en-US" sz="620" dirty="0"/>
          </a:p>
        </p:txBody>
      </p:sp>
      <p:sp>
        <p:nvSpPr>
          <p:cNvPr id="51" name="Text 49"/>
          <p:cNvSpPr/>
          <p:nvPr/>
        </p:nvSpPr>
        <p:spPr>
          <a:xfrm>
            <a:off x="10497312" y="4498848"/>
            <a:ext cx="5852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9CB0C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output</a:t>
            </a:r>
            <a:endParaRPr lang="en-US" sz="540" dirty="0"/>
          </a:p>
        </p:txBody>
      </p:sp>
      <p:sp>
        <p:nvSpPr>
          <p:cNvPr id="52" name="Text 50"/>
          <p:cNvSpPr/>
          <p:nvPr/>
        </p:nvSpPr>
        <p:spPr>
          <a:xfrm>
            <a:off x="6227064" y="5056632"/>
            <a:ext cx="5029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9CB0C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node has typed input, expected output, validation and a defined next step.</a:t>
            </a:r>
            <a:endParaRPr lang="en-US" sz="840" dirty="0"/>
          </a:p>
        </p:txBody>
      </p:sp>
      <p:sp>
        <p:nvSpPr>
          <p:cNvPr id="53" name="Shape 51"/>
          <p:cNvSpPr/>
          <p:nvPr/>
        </p:nvSpPr>
        <p:spPr>
          <a:xfrm>
            <a:off x="585216" y="6327648"/>
            <a:ext cx="11021263" cy="0"/>
          </a:xfrm>
          <a:prstGeom prst="line">
            <a:avLst/>
          </a:prstGeom>
          <a:noFill/>
          <a:ln w="12700">
            <a:solidFill>
              <a:srgbClr val="DCE6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5216" y="6419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A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VL-Code · Local AI-native IDE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7491679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B7A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73152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217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" y="61264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ASSEMBLY WORKFLOW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85216" y="1124712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B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Components can be searched and assembled inside the DAG.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85216" y="254203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A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workflow node searches the factory, AI confirms fit, selected components are installed, dependencies close, and the final VL app is linted and compiled.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400800" y="1463040"/>
            <a:ext cx="5166360" cy="3353889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8" name="Image 0" descr="/Users/ivx/Documents/VLC-Marketing/brief/assets/vlc-flow-mode-2026-04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508760"/>
            <a:ext cx="5074920" cy="326244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85216" y="6327648"/>
            <a:ext cx="11021263" cy="0"/>
          </a:xfrm>
          <a:prstGeom prst="line">
            <a:avLst/>
          </a:prstGeom>
          <a:noFill/>
          <a:ln w="12700">
            <a:solidFill>
              <a:srgbClr val="DCE6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5216" y="6419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A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VL-Code · Local AI-native IDE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7491679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B7A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8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73152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217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6EF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" y="61264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6EF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TOKEN ECONOMY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85216" y="1124712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VLC stores compute in components.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85216" y="254203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B6C7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Expensive generation happens once, then becomes a reusable component in the cloud. When needed, VLC loads engineering capability instead of spending tokens again.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585216" y="6327648"/>
            <a:ext cx="11021263" cy="0"/>
          </a:xfrm>
          <a:prstGeom prst="line">
            <a:avLst/>
          </a:prstGeom>
          <a:noFill/>
          <a:ln w="12700">
            <a:solidFill>
              <a:srgbClr val="2440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6419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CB0C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VL-Code · Local AI-native IDE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7491679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9CB0C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6355080" y="1993392"/>
            <a:ext cx="1078992" cy="2011680"/>
          </a:xfrm>
          <a:prstGeom prst="roundRect">
            <a:avLst>
              <a:gd name="adj" fmla="val 5085"/>
            </a:avLst>
          </a:prstGeom>
          <a:solidFill>
            <a:srgbClr val="102947"/>
          </a:solidFill>
          <a:ln w="12700">
            <a:solidFill>
              <a:srgbClr val="2A48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1384" y="2304288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6EF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83096" y="297180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D7E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Generate once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7434072" y="2999232"/>
            <a:ext cx="310896" cy="0"/>
          </a:xfrm>
          <a:prstGeom prst="line">
            <a:avLst/>
          </a:prstGeom>
          <a:noFill/>
          <a:ln w="19050">
            <a:solidFill>
              <a:srgbClr val="86EFE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99832" y="1993392"/>
            <a:ext cx="1078992" cy="2011680"/>
          </a:xfrm>
          <a:prstGeom prst="roundRect">
            <a:avLst>
              <a:gd name="adj" fmla="val 5085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6136" y="2304288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63C3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927848" y="297180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63C3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Store as component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8878824" y="2999232"/>
            <a:ext cx="310896" cy="0"/>
          </a:xfrm>
          <a:prstGeom prst="line">
            <a:avLst/>
          </a:prstGeom>
          <a:noFill/>
          <a:ln w="19050">
            <a:solidFill>
              <a:srgbClr val="86EFE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244584" y="1993392"/>
            <a:ext cx="1078992" cy="2011680"/>
          </a:xfrm>
          <a:prstGeom prst="roundRect">
            <a:avLst>
              <a:gd name="adj" fmla="val 5085"/>
            </a:avLst>
          </a:prstGeom>
          <a:solidFill>
            <a:srgbClr val="102947"/>
          </a:solidFill>
          <a:ln w="12700">
            <a:solidFill>
              <a:srgbClr val="2A48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0888" y="2304288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6EF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372600" y="297180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D7E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Load on demand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6355080" y="4709160"/>
            <a:ext cx="4315968" cy="320040"/>
          </a:xfrm>
          <a:prstGeom prst="roundRect">
            <a:avLst>
              <a:gd name="adj" fmla="val 17143"/>
            </a:avLst>
          </a:prstGeom>
          <a:solidFill>
            <a:srgbClr val="102947"/>
          </a:solidFill>
          <a:ln w="12700">
            <a:solidFill>
              <a:srgbClr val="2A48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4800600"/>
            <a:ext cx="43159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86EF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Reuse stored engineering capability instead of regenerating it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73152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217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" y="61264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ZERO-CODE DOORWAY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85216" y="1124712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B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Application creation opens to everyone.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85216" y="254203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A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Users describe intent, inspect the visual structure, refine components and run the DAG. Code still exists, but it is no longer the only entrance to software creation.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400800" y="1463040"/>
            <a:ext cx="5166360" cy="3573071"/>
          </a:xfrm>
          <a:prstGeom prst="roundRect">
            <a:avLst>
              <a:gd name="adj" fmla="val 1535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8" name="Image 0" descr="/Users/ivx/Documents/VLC-Marketing/brief/assets/vlc-visual-panel-2026-04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508760"/>
            <a:ext cx="5074920" cy="348163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85216" y="6327648"/>
            <a:ext cx="11021263" cy="0"/>
          </a:xfrm>
          <a:prstGeom prst="line">
            <a:avLst/>
          </a:prstGeom>
          <a:noFill/>
          <a:ln w="12700">
            <a:solidFill>
              <a:srgbClr val="DCE6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5216" y="6419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A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VL-Code · Local AI-native IDE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7491679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B7A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8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73152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217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" y="61264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RESOURCES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85216" y="1124712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B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Developers can bring their own building blocks.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85216" y="254203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A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Workflows, documents, tools, components, skills and themes can be uploaded, shared, searched and reused. VLC is an open resource layer, not a closed agent box.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585216" y="6327648"/>
            <a:ext cx="11021263" cy="0"/>
          </a:xfrm>
          <a:prstGeom prst="line">
            <a:avLst/>
          </a:prstGeom>
          <a:noFill/>
          <a:ln w="12700">
            <a:solidFill>
              <a:srgbClr val="DC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6419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A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VL-Code · Local AI-native IDE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7491679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B7A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1133856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2249424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Workflows / DAGs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7754112" y="2011680"/>
            <a:ext cx="1133856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27264" y="2249424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Docs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9198864" y="2011680"/>
            <a:ext cx="1133856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72016" y="2249424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Tools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6309360" y="2971800"/>
            <a:ext cx="1133856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3209544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Components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7754112" y="2971800"/>
            <a:ext cx="1133856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27264" y="3209544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Skills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9198864" y="2971800"/>
            <a:ext cx="1133856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72016" y="3209544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Themes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309360" y="4315968"/>
            <a:ext cx="4069080" cy="320040"/>
          </a:xfrm>
          <a:prstGeom prst="roundRect">
            <a:avLst>
              <a:gd name="adj" fmla="val 17143"/>
            </a:avLst>
          </a:prstGeom>
          <a:solidFill>
            <a:srgbClr val="EEF4F8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4407408"/>
            <a:ext cx="4069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Resources can be uploaded, searched, reused and consumed by DAGs</a:t>
            </a:r>
            <a:endParaRPr lang="en-US" sz="7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73152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217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" y="61264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FREEDOM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85216" y="1124712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B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Generated apps can be exported and privately deployed.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85216" y="254203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A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 syntax, core technical documents and components are open. Apps can be exported and self-hosted with no platform lock-in.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585216" y="6327648"/>
            <a:ext cx="11021263" cy="0"/>
          </a:xfrm>
          <a:prstGeom prst="line">
            <a:avLst/>
          </a:prstGeom>
          <a:noFill/>
          <a:ln w="12700">
            <a:solidFill>
              <a:srgbClr val="DC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6419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A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VL-Code · Local AI-native IDE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7491679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B7A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6309360" y="2395728"/>
            <a:ext cx="1298448" cy="1417320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7376" y="2706624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19088" y="320040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Local-first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7882128" y="2395728"/>
            <a:ext cx="1298448" cy="1417320"/>
          </a:xfrm>
          <a:prstGeom prst="roundRect">
            <a:avLst>
              <a:gd name="adj" fmla="val 4225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0144" y="2706624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3C3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91856" y="320040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63C3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Export source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9454896" y="2395728"/>
            <a:ext cx="1298448" cy="1417320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82912" y="2706624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564624" y="320040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Private deploy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6309360" y="4315968"/>
            <a:ext cx="4069080" cy="320040"/>
          </a:xfrm>
          <a:prstGeom prst="roundRect">
            <a:avLst>
              <a:gd name="adj" fmla="val 17143"/>
            </a:avLst>
          </a:prstGeom>
          <a:solidFill>
            <a:srgbClr val="EEF4F8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4407408"/>
            <a:ext cx="4069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locally. Own source. Deploy freely.</a:t>
            </a:r>
            <a:endParaRPr lang="en-US" sz="7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73152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217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6EF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" y="61264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6EF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CLAIM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85216" y="1124712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VLC solves the control problem of AI software generation.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85216" y="254203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B6C7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 gives AI the right representation. DAG gives AI the right process. Components give AI reusable engineering memory.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400800" y="1463040"/>
            <a:ext cx="5166360" cy="3353889"/>
          </a:xfrm>
          <a:prstGeom prst="roundRect">
            <a:avLst>
              <a:gd name="adj" fmla="val 1636"/>
            </a:avLst>
          </a:prstGeom>
          <a:solidFill>
            <a:srgbClr val="102947"/>
          </a:solidFill>
          <a:ln w="12700">
            <a:solidFill>
              <a:srgbClr val="2A4868"/>
            </a:solidFill>
            <a:prstDash val="solid"/>
          </a:ln>
        </p:spPr>
      </p:sp>
      <p:pic>
        <p:nvPicPr>
          <p:cNvPr id="8" name="Image 0" descr="/Users/ivx/Documents/VLC-Marketing/brief/assets/vlc-chat-detail-2026-04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508760"/>
            <a:ext cx="5074920" cy="326244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85216" y="6327648"/>
            <a:ext cx="11021263" cy="0"/>
          </a:xfrm>
          <a:prstGeom prst="line">
            <a:avLst/>
          </a:prstGeom>
          <a:noFill/>
          <a:ln w="12700">
            <a:solidFill>
              <a:srgbClr val="2440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5216" y="6419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CB0C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VL-Code · Local AI-native IDE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7491679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9CB0C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VisualLogic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 / VLC Technical Promo</dc:title>
  <dc:subject>VL / VLC technical promo deck</dc:subject>
  <dc:creator>VisualLogic</dc:creator>
  <cp:lastModifiedBy>VisualLogic</cp:lastModifiedBy>
  <cp:revision>1</cp:revision>
  <dcterms:created xsi:type="dcterms:W3CDTF">2026-06-10T04:04:52Z</dcterms:created>
  <dcterms:modified xsi:type="dcterms:W3CDTF">2026-06-10T04:04:52Z</dcterms:modified>
</cp:coreProperties>
</file>